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3c8006dd-a46e-7996-805b-3527a4d7d15b}">
          <p14:sldIdLst>
            <p14:sldId id="256"/>
            <p14:sldId id="257"/>
            <p14:sldId id="258"/>
            <p14:sldId id="259"/>
          </p14:sldIdLst>
        </p14:section>
        <p14:section name="Introduction" id="{879986d1-1f4b-6ed1-5c66-27ca1f39f024}">
          <p14:sldIdLst>
            <p14:sldId id="260"/>
            <p14:sldId id="261"/>
          </p14:sldIdLst>
        </p14:section>
        <p14:section name="Problem and solution" id="{85132352-10f2-b165-ccec-34b19f2e59ab}">
          <p14:sldIdLst>
            <p14:sldId id="262"/>
            <p14:sldId id="263"/>
            <p14:sldId id="264"/>
          </p14:sldIdLst>
        </p14:section>
        <p14:section name="System design" id="{e946e977-15c6-dc66-c7c9-e9f06597c4af}">
          <p14:sldIdLst>
            <p14:sldId id="265"/>
            <p14:sldId id="266"/>
            <p14:sldId id="267"/>
          </p14:sldIdLst>
        </p14:section>
        <p14:section name="Implementation" id="{d4733098-c989-8ba9-5243-3171d814abd1}">
          <p14:sldIdLst>
            <p14:sldId id="268"/>
            <p14:sldId id="269"/>
            <p14:sldId id="270"/>
            <p14:sldId id="271"/>
          </p14:sldIdLst>
        </p14:section>
        <p14:section name="Testing and results" id="{36d1bc94-6afa-0c42-e8d4-8bba6a684295}">
          <p14:sldIdLst>
            <p14:sldId id="272"/>
            <p14:sldId id="273"/>
            <p14:sldId id="274"/>
            <p14:sldId id="275"/>
            <p14:sldId id="276"/>
          </p14:sldIdLst>
        </p14:section>
        <p14:section name="Review and conclusion" id="{56367860-e75c-d637-f1a0-2c93fd3fbaa2}">
          <p14:sldIdLst>
            <p14:sldId id="277"/>
            <p14:sldId id="278"/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4E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822960" y="1920240"/>
            <a:ext cx="676656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6F1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713232"/>
            <a:ext cx="1091153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Smart Course Enrollment System  |  Summer Internship Review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">
    <p:bg>
      <p:bgPr>
        <a:solidFill>
          <a:srgbClr val="4E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713232"/>
            <a:ext cx="1091153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Smart Course Enrollment System  |  Summer Internship Review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6F1F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822960" y="137160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2"/>
                </a:solidFill>
              </a:rPr>
              <a:t>SUMMER INTERNSHIP REVIEW  |  PYTHON FULL STACK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822960" y="1920240"/>
            <a:ext cx="6766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Smart Course Enrollment System</a:t>
            </a:r>
            <a:endParaRPr lang="en-US" sz="4400" dirty="0"/>
          </a:p>
        </p:txBody>
      </p:sp>
      <p:sp>
        <p:nvSpPr>
          <p:cNvPr id="4" name="presenter"/>
          <p:cNvSpPr txBox="1"/>
          <p:nvPr/>
        </p:nvSpPr>
        <p:spPr>
          <a:xfrm>
            <a:off x="822960" y="384048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Lakshana M  |  810023205056</a:t>
            </a:r>
            <a:endParaRPr lang="en-US" sz="2400" dirty="0"/>
          </a:p>
        </p:txBody>
      </p:sp>
      <p:sp>
        <p:nvSpPr>
          <p:cNvPr id="5" name="institution"/>
          <p:cNvSpPr txBox="1"/>
          <p:nvPr/>
        </p:nvSpPr>
        <p:spPr>
          <a:xfrm>
            <a:off x="822960" y="4434840"/>
            <a:ext cx="6766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bg2"/>
                </a:solidFill>
              </a:rPr>
              <a:t>Department of Information Technology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bg2"/>
                </a:solidFill>
              </a:rPr>
              <a:t>University College of Engineering, BIT Campus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bg2"/>
                </a:solidFill>
              </a:rPr>
              <a:t>Anna University, Tiruchirappalli</a:t>
            </a:r>
            <a:endParaRPr lang="en-US" sz="1600" dirty="0"/>
          </a:p>
        </p:txBody>
      </p:sp>
      <p:sp>
        <p:nvSpPr>
          <p:cNvPr id="6" name="course"/>
          <p:cNvSpPr txBox="1"/>
          <p:nvPr/>
        </p:nvSpPr>
        <p:spPr>
          <a:xfrm>
            <a:off x="822960" y="594360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IT3711  •  Academic Year 2025–2026</a:t>
            </a:r>
            <a:endParaRPr lang="en-US" sz="1600" dirty="0"/>
          </a:p>
        </p:txBody>
      </p:sp>
      <p:sp>
        <p:nvSpPr>
          <p:cNvPr id="7" name="deco-big"/>
          <p:cNvSpPr/>
          <p:nvPr/>
        </p:nvSpPr>
        <p:spPr>
          <a:xfrm>
            <a:off x="7955280" y="1097280"/>
            <a:ext cx="3657600" cy="36576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deco-icon" descr="Graduation cap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2286000"/>
            <a:ext cx="1280160" cy="1280160"/>
          </a:xfrm>
          <a:prstGeom prst="rect">
            <a:avLst/>
          </a:prstGeom>
        </p:spPr>
      </p:pic>
      <p:sp>
        <p:nvSpPr>
          <p:cNvPr id="9" name="deco-gold"/>
          <p:cNvSpPr/>
          <p:nvPr/>
        </p:nvSpPr>
        <p:spPr>
          <a:xfrm>
            <a:off x="10241280" y="4023360"/>
            <a:ext cx="1737360" cy="17373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deco-gold-icon" descr="Cod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1632" y="4553712"/>
            <a:ext cx="685800" cy="685800"/>
          </a:xfrm>
          <a:prstGeom prst="rect">
            <a:avLst/>
          </a:prstGeom>
        </p:spPr>
      </p:pic>
      <p:sp>
        <p:nvSpPr>
          <p:cNvPr id="11" name="deco-small"/>
          <p:cNvSpPr/>
          <p:nvPr/>
        </p:nvSpPr>
        <p:spPr>
          <a:xfrm>
            <a:off x="7589520" y="4572000"/>
            <a:ext cx="1188720" cy="1188720"/>
          </a:xfrm>
          <a:prstGeom prst="ellipse">
            <a:avLst/>
          </a:prstGeom>
          <a:solidFill>
            <a:schemeClr val="accent1">
              <a:alpha val="45000"/>
            </a:scheme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713232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Internship at a glance</a:t>
            </a:r>
            <a:endParaRPr lang="en-US" sz="3200" dirty="0"/>
          </a:p>
        </p:txBody>
      </p:sp>
      <p:sp>
        <p:nvSpPr>
          <p:cNvPr id="4" name="card-1"/>
          <p:cNvSpPr/>
          <p:nvPr/>
        </p:nvSpPr>
        <p:spPr>
          <a:xfrm>
            <a:off x="640080" y="1691640"/>
            <a:ext cx="10911535" cy="740664"/>
          </a:xfrm>
          <a:prstGeom prst="roundRect">
            <a:avLst>
              <a:gd name="adj" fmla="val 987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4E1530">
                <a:alpha val="12000"/>
              </a:srgbClr>
            </a:outerShdw>
          </a:effectLst>
        </p:spPr>
      </p:sp>
      <p:sp>
        <p:nvSpPr>
          <p:cNvPr id="5" name="iconbg-2"/>
          <p:cNvSpPr/>
          <p:nvPr/>
        </p:nvSpPr>
        <p:spPr>
          <a:xfrm>
            <a:off x="914400" y="1810512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con-3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130" y="1936242"/>
            <a:ext cx="251460" cy="251460"/>
          </a:xfrm>
          <a:prstGeom prst="rect">
            <a:avLst/>
          </a:prstGeom>
        </p:spPr>
      </p:pic>
      <p:sp>
        <p:nvSpPr>
          <p:cNvPr id="7" name="label-4"/>
          <p:cNvSpPr txBox="1"/>
          <p:nvPr/>
        </p:nvSpPr>
        <p:spPr>
          <a:xfrm>
            <a:off x="1645920" y="1691640"/>
            <a:ext cx="22860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Organization</a:t>
            </a:r>
            <a:endParaRPr lang="en-US" sz="1600" dirty="0"/>
          </a:p>
        </p:txBody>
      </p:sp>
      <p:sp>
        <p:nvSpPr>
          <p:cNvPr id="8" name="text-5"/>
          <p:cNvSpPr txBox="1"/>
          <p:nvPr/>
        </p:nvSpPr>
        <p:spPr>
          <a:xfrm>
            <a:off x="4023360" y="1691640"/>
            <a:ext cx="7253935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Astonish InfoTech Private Limited, Tiruchirappalli</a:t>
            </a:r>
            <a:endParaRPr lang="en-US" sz="1600" dirty="0"/>
          </a:p>
        </p:txBody>
      </p:sp>
      <p:sp>
        <p:nvSpPr>
          <p:cNvPr id="9" name="card-6"/>
          <p:cNvSpPr/>
          <p:nvPr/>
        </p:nvSpPr>
        <p:spPr>
          <a:xfrm>
            <a:off x="640080" y="2615184"/>
            <a:ext cx="10911535" cy="740664"/>
          </a:xfrm>
          <a:prstGeom prst="roundRect">
            <a:avLst>
              <a:gd name="adj" fmla="val 987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4E1530">
                <a:alpha val="12000"/>
              </a:srgbClr>
            </a:outerShdw>
          </a:effectLst>
        </p:spPr>
      </p:sp>
      <p:sp>
        <p:nvSpPr>
          <p:cNvPr id="10" name="iconbg-7"/>
          <p:cNvSpPr/>
          <p:nvPr/>
        </p:nvSpPr>
        <p:spPr>
          <a:xfrm>
            <a:off x="914400" y="2734056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-8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130" y="2859786"/>
            <a:ext cx="251460" cy="251460"/>
          </a:xfrm>
          <a:prstGeom prst="rect">
            <a:avLst/>
          </a:prstGeom>
        </p:spPr>
      </p:pic>
      <p:sp>
        <p:nvSpPr>
          <p:cNvPr id="12" name="label-9"/>
          <p:cNvSpPr txBox="1"/>
          <p:nvPr/>
        </p:nvSpPr>
        <p:spPr>
          <a:xfrm>
            <a:off x="1645920" y="2615184"/>
            <a:ext cx="22860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Duration</a:t>
            </a:r>
            <a:endParaRPr lang="en-US" sz="1600" dirty="0"/>
          </a:p>
        </p:txBody>
      </p:sp>
      <p:sp>
        <p:nvSpPr>
          <p:cNvPr id="13" name="text-10"/>
          <p:cNvSpPr txBox="1"/>
          <p:nvPr/>
        </p:nvSpPr>
        <p:spPr>
          <a:xfrm>
            <a:off x="4023360" y="2615184"/>
            <a:ext cx="7253935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01 June 2026 – 30 June 2026</a:t>
            </a:r>
            <a:endParaRPr lang="en-US" sz="1600" dirty="0"/>
          </a:p>
        </p:txBody>
      </p:sp>
      <p:sp>
        <p:nvSpPr>
          <p:cNvPr id="14" name="card-11"/>
          <p:cNvSpPr/>
          <p:nvPr/>
        </p:nvSpPr>
        <p:spPr>
          <a:xfrm>
            <a:off x="640080" y="3538728"/>
            <a:ext cx="10911535" cy="740664"/>
          </a:xfrm>
          <a:prstGeom prst="roundRect">
            <a:avLst>
              <a:gd name="adj" fmla="val 987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4E1530">
                <a:alpha val="12000"/>
              </a:srgbClr>
            </a:outerShdw>
          </a:effectLst>
        </p:spPr>
      </p:sp>
      <p:sp>
        <p:nvSpPr>
          <p:cNvPr id="15" name="iconbg-12"/>
          <p:cNvSpPr/>
          <p:nvPr/>
        </p:nvSpPr>
        <p:spPr>
          <a:xfrm>
            <a:off x="914400" y="36576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con-13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130" y="3783330"/>
            <a:ext cx="251460" cy="251460"/>
          </a:xfrm>
          <a:prstGeom prst="rect">
            <a:avLst/>
          </a:prstGeom>
        </p:spPr>
      </p:pic>
      <p:sp>
        <p:nvSpPr>
          <p:cNvPr id="17" name="label-14"/>
          <p:cNvSpPr txBox="1"/>
          <p:nvPr/>
        </p:nvSpPr>
        <p:spPr>
          <a:xfrm>
            <a:off x="1645920" y="3538728"/>
            <a:ext cx="22860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Domain</a:t>
            </a:r>
            <a:endParaRPr lang="en-US" sz="1600" dirty="0"/>
          </a:p>
        </p:txBody>
      </p:sp>
      <p:sp>
        <p:nvSpPr>
          <p:cNvPr id="18" name="text-15"/>
          <p:cNvSpPr txBox="1"/>
          <p:nvPr/>
        </p:nvSpPr>
        <p:spPr>
          <a:xfrm>
            <a:off x="4023360" y="3538728"/>
            <a:ext cx="7253935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Python Full Stack Development</a:t>
            </a:r>
            <a:endParaRPr lang="en-US" sz="1600" dirty="0"/>
          </a:p>
        </p:txBody>
      </p:sp>
      <p:sp>
        <p:nvSpPr>
          <p:cNvPr id="19" name="card-16"/>
          <p:cNvSpPr/>
          <p:nvPr/>
        </p:nvSpPr>
        <p:spPr>
          <a:xfrm>
            <a:off x="640080" y="4462272"/>
            <a:ext cx="10911535" cy="740664"/>
          </a:xfrm>
          <a:prstGeom prst="roundRect">
            <a:avLst>
              <a:gd name="adj" fmla="val 987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4E1530">
                <a:alpha val="12000"/>
              </a:srgbClr>
            </a:outerShdw>
          </a:effectLst>
        </p:spPr>
      </p:sp>
      <p:sp>
        <p:nvSpPr>
          <p:cNvPr id="20" name="iconbg-17"/>
          <p:cNvSpPr/>
          <p:nvPr/>
        </p:nvSpPr>
        <p:spPr>
          <a:xfrm>
            <a:off x="914400" y="4581144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icon-18" descr="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130" y="4706874"/>
            <a:ext cx="251460" cy="251460"/>
          </a:xfrm>
          <a:prstGeom prst="rect">
            <a:avLst/>
          </a:prstGeom>
        </p:spPr>
      </p:pic>
      <p:sp>
        <p:nvSpPr>
          <p:cNvPr id="22" name="label-19"/>
          <p:cNvSpPr txBox="1"/>
          <p:nvPr/>
        </p:nvSpPr>
        <p:spPr>
          <a:xfrm>
            <a:off x="1645920" y="4462272"/>
            <a:ext cx="22860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Project</a:t>
            </a:r>
            <a:endParaRPr lang="en-US" sz="1600" dirty="0"/>
          </a:p>
        </p:txBody>
      </p:sp>
      <p:sp>
        <p:nvSpPr>
          <p:cNvPr id="23" name="text-20"/>
          <p:cNvSpPr txBox="1"/>
          <p:nvPr/>
        </p:nvSpPr>
        <p:spPr>
          <a:xfrm>
            <a:off x="4023360" y="4462272"/>
            <a:ext cx="7253935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Smart Course Enrollment System (web application)</a:t>
            </a:r>
            <a:endParaRPr lang="en-US" sz="1600" dirty="0"/>
          </a:p>
        </p:txBody>
      </p:sp>
      <p:sp>
        <p:nvSpPr>
          <p:cNvPr id="24" name="card-21"/>
          <p:cNvSpPr/>
          <p:nvPr/>
        </p:nvSpPr>
        <p:spPr>
          <a:xfrm>
            <a:off x="640080" y="5385816"/>
            <a:ext cx="10911535" cy="740664"/>
          </a:xfrm>
          <a:prstGeom prst="roundRect">
            <a:avLst>
              <a:gd name="adj" fmla="val 987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4E1530">
                <a:alpha val="12000"/>
              </a:srgbClr>
            </a:outerShdw>
          </a:effectLst>
        </p:spPr>
      </p:sp>
      <p:sp>
        <p:nvSpPr>
          <p:cNvPr id="25" name="iconbg-22"/>
          <p:cNvSpPr/>
          <p:nvPr/>
        </p:nvSpPr>
        <p:spPr>
          <a:xfrm>
            <a:off x="914400" y="5504688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6" name="icon-23" descr="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0130" y="5630418"/>
            <a:ext cx="251460" cy="251460"/>
          </a:xfrm>
          <a:prstGeom prst="rect">
            <a:avLst/>
          </a:prstGeom>
        </p:spPr>
      </p:pic>
      <p:sp>
        <p:nvSpPr>
          <p:cNvPr id="27" name="label-24"/>
          <p:cNvSpPr txBox="1"/>
          <p:nvPr/>
        </p:nvSpPr>
        <p:spPr>
          <a:xfrm>
            <a:off x="1645920" y="5385816"/>
            <a:ext cx="22860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Focus</a:t>
            </a:r>
            <a:endParaRPr lang="en-US" sz="1600" dirty="0"/>
          </a:p>
        </p:txBody>
      </p:sp>
      <p:sp>
        <p:nvSpPr>
          <p:cNvPr id="28" name="text-25"/>
          <p:cNvSpPr txBox="1"/>
          <p:nvPr/>
        </p:nvSpPr>
        <p:spPr>
          <a:xfrm>
            <a:off x="4023360" y="5385816"/>
            <a:ext cx="7253935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FastAPI backend, MySQL database, Jinja2 templates and responsive UI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713232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Company profile | Astonish InfoTech</a:t>
            </a:r>
            <a:endParaRPr lang="en-US" sz="3200" dirty="0"/>
          </a:p>
        </p:txBody>
      </p:sp>
      <p:sp>
        <p:nvSpPr>
          <p:cNvPr id="4" name="card-26"/>
          <p:cNvSpPr/>
          <p:nvPr/>
        </p:nvSpPr>
        <p:spPr>
          <a:xfrm>
            <a:off x="640080" y="1691640"/>
            <a:ext cx="5318608" cy="2080260"/>
          </a:xfrm>
          <a:prstGeom prst="roundRect">
            <a:avLst>
              <a:gd name="adj" fmla="val 351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4E1530">
                <a:alpha val="12000"/>
              </a:srgbClr>
            </a:outerShdw>
          </a:effectLst>
        </p:spPr>
      </p:sp>
      <p:sp>
        <p:nvSpPr>
          <p:cNvPr id="5" name="iconbg-27"/>
          <p:cNvSpPr/>
          <p:nvPr/>
        </p:nvSpPr>
        <p:spPr>
          <a:xfrm>
            <a:off x="914400" y="19659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con-28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130" y="2091690"/>
            <a:ext cx="251460" cy="251460"/>
          </a:xfrm>
          <a:prstGeom prst="rect">
            <a:avLst/>
          </a:prstGeom>
        </p:spPr>
      </p:pic>
      <p:sp>
        <p:nvSpPr>
          <p:cNvPr id="7" name="ctitle-29"/>
          <p:cNvSpPr txBox="1"/>
          <p:nvPr/>
        </p:nvSpPr>
        <p:spPr>
          <a:xfrm>
            <a:off x="1600200" y="1965960"/>
            <a:ext cx="4084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Who they are</a:t>
            </a:r>
            <a:endParaRPr lang="en-US" sz="1800" dirty="0"/>
          </a:p>
        </p:txBody>
      </p:sp>
      <p:sp>
        <p:nvSpPr>
          <p:cNvPr id="8" name="cbody-30"/>
          <p:cNvSpPr txBox="1"/>
          <p:nvPr/>
        </p:nvSpPr>
        <p:spPr>
          <a:xfrm>
            <a:off x="914400" y="2651760"/>
            <a:ext cx="4769968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Software development and web solutions company in Tiruchirappalli (Trichy), Tamil Nadu, serving startups, institutions and businesses.</a:t>
            </a:r>
            <a:endParaRPr lang="en-US" sz="1600" dirty="0"/>
          </a:p>
        </p:txBody>
      </p:sp>
      <p:sp>
        <p:nvSpPr>
          <p:cNvPr id="9" name="card-31"/>
          <p:cNvSpPr/>
          <p:nvPr/>
        </p:nvSpPr>
        <p:spPr>
          <a:xfrm>
            <a:off x="6233008" y="1691640"/>
            <a:ext cx="5318608" cy="2080260"/>
          </a:xfrm>
          <a:prstGeom prst="roundRect">
            <a:avLst>
              <a:gd name="adj" fmla="val 351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4E1530">
                <a:alpha val="12000"/>
              </a:srgbClr>
            </a:outerShdw>
          </a:effectLst>
        </p:spPr>
      </p:sp>
      <p:sp>
        <p:nvSpPr>
          <p:cNvPr id="10" name="iconbg-32"/>
          <p:cNvSpPr/>
          <p:nvPr/>
        </p:nvSpPr>
        <p:spPr>
          <a:xfrm>
            <a:off x="6507328" y="19659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-33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3058" y="2091690"/>
            <a:ext cx="251460" cy="251460"/>
          </a:xfrm>
          <a:prstGeom prst="rect">
            <a:avLst/>
          </a:prstGeom>
        </p:spPr>
      </p:pic>
      <p:sp>
        <p:nvSpPr>
          <p:cNvPr id="12" name="ctitle-34"/>
          <p:cNvSpPr txBox="1"/>
          <p:nvPr/>
        </p:nvSpPr>
        <p:spPr>
          <a:xfrm>
            <a:off x="7193128" y="1965960"/>
            <a:ext cx="4084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Development process</a:t>
            </a:r>
            <a:endParaRPr lang="en-US" sz="1800" dirty="0"/>
          </a:p>
        </p:txBody>
      </p:sp>
      <p:sp>
        <p:nvSpPr>
          <p:cNvPr id="13" name="cbody-35"/>
          <p:cNvSpPr txBox="1"/>
          <p:nvPr/>
        </p:nvSpPr>
        <p:spPr>
          <a:xfrm>
            <a:off x="6507328" y="2651760"/>
            <a:ext cx="4769968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Discuss (requirements)  →  Design (UI/UX)  →  Develop (coding, testing)  →  Deploy (launch, support).</a:t>
            </a:r>
            <a:endParaRPr lang="en-US" sz="1600" dirty="0"/>
          </a:p>
        </p:txBody>
      </p:sp>
      <p:sp>
        <p:nvSpPr>
          <p:cNvPr id="14" name="card-36"/>
          <p:cNvSpPr/>
          <p:nvPr/>
        </p:nvSpPr>
        <p:spPr>
          <a:xfrm>
            <a:off x="640080" y="4046220"/>
            <a:ext cx="5318608" cy="2080260"/>
          </a:xfrm>
          <a:prstGeom prst="roundRect">
            <a:avLst>
              <a:gd name="adj" fmla="val 351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4E1530">
                <a:alpha val="12000"/>
              </a:srgbClr>
            </a:outerShdw>
          </a:effectLst>
        </p:spPr>
      </p:sp>
      <p:sp>
        <p:nvSpPr>
          <p:cNvPr id="15" name="iconbg-37"/>
          <p:cNvSpPr/>
          <p:nvPr/>
        </p:nvSpPr>
        <p:spPr>
          <a:xfrm>
            <a:off x="914400" y="43205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con-38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130" y="4446270"/>
            <a:ext cx="251460" cy="251460"/>
          </a:xfrm>
          <a:prstGeom prst="rect">
            <a:avLst/>
          </a:prstGeom>
        </p:spPr>
      </p:pic>
      <p:sp>
        <p:nvSpPr>
          <p:cNvPr id="17" name="ctitle-39"/>
          <p:cNvSpPr txBox="1"/>
          <p:nvPr/>
        </p:nvSpPr>
        <p:spPr>
          <a:xfrm>
            <a:off x="1600200" y="4320540"/>
            <a:ext cx="4084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Services offered</a:t>
            </a:r>
            <a:endParaRPr lang="en-US" sz="1800" dirty="0"/>
          </a:p>
        </p:txBody>
      </p:sp>
      <p:sp>
        <p:nvSpPr>
          <p:cNvPr id="18" name="cbody-40"/>
          <p:cNvSpPr txBox="1"/>
          <p:nvPr/>
        </p:nvSpPr>
        <p:spPr>
          <a:xfrm>
            <a:off x="914400" y="5006340"/>
            <a:ext cx="4769968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Web, software and mobile app development; ERP and CRM solutions; domain and hosting.</a:t>
            </a:r>
            <a:endParaRPr lang="en-US" sz="1600" dirty="0"/>
          </a:p>
        </p:txBody>
      </p:sp>
      <p:sp>
        <p:nvSpPr>
          <p:cNvPr id="19" name="card-41"/>
          <p:cNvSpPr/>
          <p:nvPr/>
        </p:nvSpPr>
        <p:spPr>
          <a:xfrm>
            <a:off x="6233008" y="4046220"/>
            <a:ext cx="5318608" cy="2080260"/>
          </a:xfrm>
          <a:prstGeom prst="roundRect">
            <a:avLst>
              <a:gd name="adj" fmla="val 351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4E1530">
                <a:alpha val="12000"/>
              </a:srgbClr>
            </a:outerShdw>
          </a:effectLst>
        </p:spPr>
      </p:sp>
      <p:sp>
        <p:nvSpPr>
          <p:cNvPr id="20" name="iconbg-42"/>
          <p:cNvSpPr/>
          <p:nvPr/>
        </p:nvSpPr>
        <p:spPr>
          <a:xfrm>
            <a:off x="6507328" y="43205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icon-43" descr="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3058" y="4446270"/>
            <a:ext cx="251460" cy="251460"/>
          </a:xfrm>
          <a:prstGeom prst="rect">
            <a:avLst/>
          </a:prstGeom>
        </p:spPr>
      </p:pic>
      <p:sp>
        <p:nvSpPr>
          <p:cNvPr id="22" name="ctitle-44"/>
          <p:cNvSpPr txBox="1"/>
          <p:nvPr/>
        </p:nvSpPr>
        <p:spPr>
          <a:xfrm>
            <a:off x="7193128" y="4320540"/>
            <a:ext cx="4084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Technical domains</a:t>
            </a:r>
            <a:endParaRPr lang="en-US" sz="1800" dirty="0"/>
          </a:p>
        </p:txBody>
      </p:sp>
      <p:sp>
        <p:nvSpPr>
          <p:cNvPr id="23" name="cbody-45"/>
          <p:cNvSpPr txBox="1"/>
          <p:nvPr/>
        </p:nvSpPr>
        <p:spPr>
          <a:xfrm>
            <a:off x="6507328" y="5006340"/>
            <a:ext cx="4769968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AI and ML, Embedded Systems, IoT, VLSI support, Cloud solutions and Cyber Security.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713232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Presentation roadmap</a:t>
            </a:r>
            <a:endParaRPr lang="en-US" sz="3200" dirty="0"/>
          </a:p>
        </p:txBody>
      </p:sp>
      <p:sp>
        <p:nvSpPr>
          <p:cNvPr id="4" name="card-46"/>
          <p:cNvSpPr/>
          <p:nvPr/>
        </p:nvSpPr>
        <p:spPr>
          <a:xfrm>
            <a:off x="640080" y="2011680"/>
            <a:ext cx="1999427" cy="3291840"/>
          </a:xfrm>
          <a:prstGeom prst="roundRect">
            <a:avLst>
              <a:gd name="adj" fmla="val 365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4E1530">
                <a:alpha val="12000"/>
              </a:srgbClr>
            </a:outerShdw>
          </a:effectLst>
        </p:spPr>
      </p:sp>
      <p:sp>
        <p:nvSpPr>
          <p:cNvPr id="5" name="numbg-47"/>
          <p:cNvSpPr/>
          <p:nvPr/>
        </p:nvSpPr>
        <p:spPr>
          <a:xfrm>
            <a:off x="914400" y="23317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num-48"/>
          <p:cNvSpPr txBox="1"/>
          <p:nvPr/>
        </p:nvSpPr>
        <p:spPr>
          <a:xfrm>
            <a:off x="914400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step-49"/>
          <p:cNvSpPr txBox="1"/>
          <p:nvPr/>
        </p:nvSpPr>
        <p:spPr>
          <a:xfrm>
            <a:off x="914400" y="3200400"/>
            <a:ext cx="1450787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Introduction and internship objectives</a:t>
            </a:r>
            <a:endParaRPr lang="en-US" sz="1600" dirty="0"/>
          </a:p>
        </p:txBody>
      </p:sp>
      <p:sp>
        <p:nvSpPr>
          <p:cNvPr id="8" name="card-50"/>
          <p:cNvSpPr/>
          <p:nvPr/>
        </p:nvSpPr>
        <p:spPr>
          <a:xfrm>
            <a:off x="2868107" y="2011680"/>
            <a:ext cx="1999427" cy="3291840"/>
          </a:xfrm>
          <a:prstGeom prst="roundRect">
            <a:avLst>
              <a:gd name="adj" fmla="val 365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4E1530">
                <a:alpha val="12000"/>
              </a:srgbClr>
            </a:outerShdw>
          </a:effectLst>
        </p:spPr>
      </p:sp>
      <p:sp>
        <p:nvSpPr>
          <p:cNvPr id="9" name="numbg-51"/>
          <p:cNvSpPr/>
          <p:nvPr/>
        </p:nvSpPr>
        <p:spPr>
          <a:xfrm>
            <a:off x="3142427" y="23317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num-52"/>
          <p:cNvSpPr txBox="1"/>
          <p:nvPr/>
        </p:nvSpPr>
        <p:spPr>
          <a:xfrm>
            <a:off x="3142427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1" name="step-53"/>
          <p:cNvSpPr txBox="1"/>
          <p:nvPr/>
        </p:nvSpPr>
        <p:spPr>
          <a:xfrm>
            <a:off x="3142427" y="3200400"/>
            <a:ext cx="1450787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Problem identification and proposed solution</a:t>
            </a:r>
            <a:endParaRPr lang="en-US" sz="1600" dirty="0"/>
          </a:p>
        </p:txBody>
      </p:sp>
      <p:sp>
        <p:nvSpPr>
          <p:cNvPr id="12" name="card-54"/>
          <p:cNvSpPr/>
          <p:nvPr/>
        </p:nvSpPr>
        <p:spPr>
          <a:xfrm>
            <a:off x="5096134" y="2011680"/>
            <a:ext cx="1999427" cy="3291840"/>
          </a:xfrm>
          <a:prstGeom prst="roundRect">
            <a:avLst>
              <a:gd name="adj" fmla="val 365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4E1530">
                <a:alpha val="12000"/>
              </a:srgbClr>
            </a:outerShdw>
          </a:effectLst>
        </p:spPr>
      </p:sp>
      <p:sp>
        <p:nvSpPr>
          <p:cNvPr id="13" name="numbg-55"/>
          <p:cNvSpPr/>
          <p:nvPr/>
        </p:nvSpPr>
        <p:spPr>
          <a:xfrm>
            <a:off x="5370454" y="23317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num-56"/>
          <p:cNvSpPr txBox="1"/>
          <p:nvPr/>
        </p:nvSpPr>
        <p:spPr>
          <a:xfrm>
            <a:off x="5370454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5" name="step-57"/>
          <p:cNvSpPr txBox="1"/>
          <p:nvPr/>
        </p:nvSpPr>
        <p:spPr>
          <a:xfrm>
            <a:off x="5370454" y="3200400"/>
            <a:ext cx="1450787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System architecture and functional modules</a:t>
            </a:r>
            <a:endParaRPr lang="en-US" sz="1600" dirty="0"/>
          </a:p>
        </p:txBody>
      </p:sp>
      <p:sp>
        <p:nvSpPr>
          <p:cNvPr id="16" name="card-58"/>
          <p:cNvSpPr/>
          <p:nvPr/>
        </p:nvSpPr>
        <p:spPr>
          <a:xfrm>
            <a:off x="7324161" y="2011680"/>
            <a:ext cx="1999427" cy="3291840"/>
          </a:xfrm>
          <a:prstGeom prst="roundRect">
            <a:avLst>
              <a:gd name="adj" fmla="val 365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4E1530">
                <a:alpha val="12000"/>
              </a:srgbClr>
            </a:outerShdw>
          </a:effectLst>
        </p:spPr>
      </p:sp>
      <p:sp>
        <p:nvSpPr>
          <p:cNvPr id="17" name="numbg-59"/>
          <p:cNvSpPr/>
          <p:nvPr/>
        </p:nvSpPr>
        <p:spPr>
          <a:xfrm>
            <a:off x="7598481" y="23317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num-60"/>
          <p:cNvSpPr txBox="1"/>
          <p:nvPr/>
        </p:nvSpPr>
        <p:spPr>
          <a:xfrm>
            <a:off x="7598481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04</a:t>
            </a:r>
            <a:endParaRPr lang="en-US" sz="1600" dirty="0"/>
          </a:p>
        </p:txBody>
      </p:sp>
      <p:sp>
        <p:nvSpPr>
          <p:cNvPr id="19" name="step-61"/>
          <p:cNvSpPr txBox="1"/>
          <p:nvPr/>
        </p:nvSpPr>
        <p:spPr>
          <a:xfrm>
            <a:off x="7598481" y="3200400"/>
            <a:ext cx="1450787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Implementation, database design and algorithms</a:t>
            </a:r>
            <a:endParaRPr lang="en-US" sz="1600" dirty="0"/>
          </a:p>
        </p:txBody>
      </p:sp>
      <p:sp>
        <p:nvSpPr>
          <p:cNvPr id="20" name="card-62"/>
          <p:cNvSpPr/>
          <p:nvPr/>
        </p:nvSpPr>
        <p:spPr>
          <a:xfrm>
            <a:off x="9552188" y="2011680"/>
            <a:ext cx="1999427" cy="3291840"/>
          </a:xfrm>
          <a:prstGeom prst="roundRect">
            <a:avLst>
              <a:gd name="adj" fmla="val 365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4E1530">
                <a:alpha val="12000"/>
              </a:srgbClr>
            </a:outerShdw>
          </a:effectLst>
        </p:spPr>
      </p:sp>
      <p:sp>
        <p:nvSpPr>
          <p:cNvPr id="21" name="numbg-63"/>
          <p:cNvSpPr/>
          <p:nvPr/>
        </p:nvSpPr>
        <p:spPr>
          <a:xfrm>
            <a:off x="9826508" y="23317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2" name="num-64"/>
          <p:cNvSpPr txBox="1"/>
          <p:nvPr/>
        </p:nvSpPr>
        <p:spPr>
          <a:xfrm>
            <a:off x="9826508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05</a:t>
            </a:r>
            <a:endParaRPr lang="en-US" sz="1600" dirty="0"/>
          </a:p>
        </p:txBody>
      </p:sp>
      <p:sp>
        <p:nvSpPr>
          <p:cNvPr id="23" name="step-65"/>
          <p:cNvSpPr txBox="1"/>
          <p:nvPr/>
        </p:nvSpPr>
        <p:spPr>
          <a:xfrm>
            <a:off x="9826508" y="3200400"/>
            <a:ext cx="1450787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Output, testing, result analysis, future work and conclusion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713232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Introduction to Python full stack development</a:t>
            </a:r>
            <a:endParaRPr lang="en-US" sz="3200" dirty="0"/>
          </a:p>
        </p:txBody>
      </p:sp>
      <p:sp>
        <p:nvSpPr>
          <p:cNvPr id="4" name="lead"/>
          <p:cNvSpPr txBox="1"/>
          <p:nvPr/>
        </p:nvSpPr>
        <p:spPr>
          <a:xfrm>
            <a:off x="640080" y="164592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A full stack web application that automates course registration for training institutions.</a:t>
            </a:r>
            <a:endParaRPr lang="en-US" sz="2000" dirty="0"/>
          </a:p>
        </p:txBody>
      </p:sp>
      <p:sp>
        <p:nvSpPr>
          <p:cNvPr id="5" name="card-66"/>
          <p:cNvSpPr/>
          <p:nvPr/>
        </p:nvSpPr>
        <p:spPr>
          <a:xfrm>
            <a:off x="640080" y="2468880"/>
            <a:ext cx="3454298" cy="2697480"/>
          </a:xfrm>
          <a:prstGeom prst="roundRect">
            <a:avLst>
              <a:gd name="adj" fmla="val 271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4E1530">
                <a:alpha val="12000"/>
              </a:srgbClr>
            </a:outerShdw>
          </a:effectLst>
        </p:spPr>
      </p:sp>
      <p:sp>
        <p:nvSpPr>
          <p:cNvPr id="6" name="iconbg-67"/>
          <p:cNvSpPr/>
          <p:nvPr/>
        </p:nvSpPr>
        <p:spPr>
          <a:xfrm>
            <a:off x="914400" y="27432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-68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130" y="2868930"/>
            <a:ext cx="251460" cy="251460"/>
          </a:xfrm>
          <a:prstGeom prst="rect">
            <a:avLst/>
          </a:prstGeom>
        </p:spPr>
      </p:pic>
      <p:sp>
        <p:nvSpPr>
          <p:cNvPr id="8" name="ctitle-69"/>
          <p:cNvSpPr txBox="1"/>
          <p:nvPr/>
        </p:nvSpPr>
        <p:spPr>
          <a:xfrm>
            <a:off x="1600200" y="2743200"/>
            <a:ext cx="22198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Frontend</a:t>
            </a:r>
            <a:endParaRPr lang="en-US" sz="1800" dirty="0"/>
          </a:p>
        </p:txBody>
      </p:sp>
      <p:sp>
        <p:nvSpPr>
          <p:cNvPr id="9" name="cbody-70"/>
          <p:cNvSpPr txBox="1"/>
          <p:nvPr/>
        </p:nvSpPr>
        <p:spPr>
          <a:xfrm>
            <a:off x="914400" y="3429000"/>
            <a:ext cx="290565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HTML5, CSS3 and JavaScript give a responsive, card-based interface.</a:t>
            </a:r>
            <a:endParaRPr lang="en-US" sz="1500" dirty="0"/>
          </a:p>
        </p:txBody>
      </p:sp>
      <p:sp>
        <p:nvSpPr>
          <p:cNvPr id="10" name="card-71"/>
          <p:cNvSpPr/>
          <p:nvPr/>
        </p:nvSpPr>
        <p:spPr>
          <a:xfrm>
            <a:off x="4368698" y="2468880"/>
            <a:ext cx="3454298" cy="2697480"/>
          </a:xfrm>
          <a:prstGeom prst="roundRect">
            <a:avLst>
              <a:gd name="adj" fmla="val 271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4E1530">
                <a:alpha val="12000"/>
              </a:srgbClr>
            </a:outerShdw>
          </a:effectLst>
        </p:spPr>
      </p:sp>
      <p:sp>
        <p:nvSpPr>
          <p:cNvPr id="11" name="iconbg-72"/>
          <p:cNvSpPr/>
          <p:nvPr/>
        </p:nvSpPr>
        <p:spPr>
          <a:xfrm>
            <a:off x="4643018" y="27432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con-73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8748" y="2868930"/>
            <a:ext cx="251460" cy="251460"/>
          </a:xfrm>
          <a:prstGeom prst="rect">
            <a:avLst/>
          </a:prstGeom>
        </p:spPr>
      </p:pic>
      <p:sp>
        <p:nvSpPr>
          <p:cNvPr id="13" name="ctitle-74"/>
          <p:cNvSpPr txBox="1"/>
          <p:nvPr/>
        </p:nvSpPr>
        <p:spPr>
          <a:xfrm>
            <a:off x="5328818" y="2743200"/>
            <a:ext cx="22198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Backend</a:t>
            </a:r>
            <a:endParaRPr lang="en-US" sz="1800" dirty="0"/>
          </a:p>
        </p:txBody>
      </p:sp>
      <p:sp>
        <p:nvSpPr>
          <p:cNvPr id="14" name="cbody-75"/>
          <p:cNvSpPr txBox="1"/>
          <p:nvPr/>
        </p:nvSpPr>
        <p:spPr>
          <a:xfrm>
            <a:off x="4643018" y="3429000"/>
            <a:ext cx="290565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FastAPI handles routing, form processing and business logic; Jinja2 renders pages on the server.</a:t>
            </a:r>
            <a:endParaRPr lang="en-US" sz="1500" dirty="0"/>
          </a:p>
        </p:txBody>
      </p:sp>
      <p:sp>
        <p:nvSpPr>
          <p:cNvPr id="15" name="card-76"/>
          <p:cNvSpPr/>
          <p:nvPr/>
        </p:nvSpPr>
        <p:spPr>
          <a:xfrm>
            <a:off x="8097317" y="2468880"/>
            <a:ext cx="3454298" cy="2697480"/>
          </a:xfrm>
          <a:prstGeom prst="roundRect">
            <a:avLst>
              <a:gd name="adj" fmla="val 271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4E1530">
                <a:alpha val="12000"/>
              </a:srgbClr>
            </a:outerShdw>
          </a:effectLst>
        </p:spPr>
      </p:sp>
      <p:sp>
        <p:nvSpPr>
          <p:cNvPr id="16" name="iconbg-77"/>
          <p:cNvSpPr/>
          <p:nvPr/>
        </p:nvSpPr>
        <p:spPr>
          <a:xfrm>
            <a:off x="8371637" y="27432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con-78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7367" y="2868930"/>
            <a:ext cx="251460" cy="251460"/>
          </a:xfrm>
          <a:prstGeom prst="rect">
            <a:avLst/>
          </a:prstGeom>
        </p:spPr>
      </p:pic>
      <p:sp>
        <p:nvSpPr>
          <p:cNvPr id="18" name="ctitle-79"/>
          <p:cNvSpPr txBox="1"/>
          <p:nvPr/>
        </p:nvSpPr>
        <p:spPr>
          <a:xfrm>
            <a:off x="9057437" y="2743200"/>
            <a:ext cx="22198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Database</a:t>
            </a:r>
            <a:endParaRPr lang="en-US" sz="1800" dirty="0"/>
          </a:p>
        </p:txBody>
      </p:sp>
      <p:sp>
        <p:nvSpPr>
          <p:cNvPr id="19" name="cbody-80"/>
          <p:cNvSpPr txBox="1"/>
          <p:nvPr/>
        </p:nvSpPr>
        <p:spPr>
          <a:xfrm>
            <a:off x="8371637" y="3429000"/>
            <a:ext cx="290565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MySQL stores categories, courses and enrollments, connected through mysql-connector-python.</a:t>
            </a:r>
            <a:endParaRPr lang="en-US" sz="1500" dirty="0"/>
          </a:p>
        </p:txBody>
      </p:sp>
      <p:sp>
        <p:nvSpPr>
          <p:cNvPr id="20" name="pill"/>
          <p:cNvSpPr/>
          <p:nvPr/>
        </p:nvSpPr>
        <p:spPr>
          <a:xfrm>
            <a:off x="640080" y="5440680"/>
            <a:ext cx="10911535" cy="685800"/>
          </a:xfrm>
          <a:prstGeom prst="roundRect">
            <a:avLst>
              <a:gd name="adj" fmla="val 10667"/>
            </a:avLst>
          </a:prstGeom>
          <a:solidFill>
            <a:schemeClr val="tx2"/>
          </a:solidFill>
          <a:ln/>
        </p:spPr>
      </p:sp>
      <p:sp>
        <p:nvSpPr>
          <p:cNvPr id="21" name="iconbg-81"/>
          <p:cNvSpPr/>
          <p:nvPr/>
        </p:nvSpPr>
        <p:spPr>
          <a:xfrm>
            <a:off x="914400" y="553212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2" name="icon-82" descr="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130" y="5657850"/>
            <a:ext cx="251460" cy="251460"/>
          </a:xfrm>
          <a:prstGeom prst="rect">
            <a:avLst/>
          </a:prstGeom>
        </p:spPr>
      </p:pic>
      <p:sp>
        <p:nvSpPr>
          <p:cNvPr id="23" name="pilltext"/>
          <p:cNvSpPr txBox="1"/>
          <p:nvPr/>
        </p:nvSpPr>
        <p:spPr>
          <a:xfrm>
            <a:off x="1645920" y="5440680"/>
            <a:ext cx="96313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Served with Uvicorn; developed in Visual Studio Code.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713232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Objectives of the internship</a:t>
            </a:r>
            <a:endParaRPr lang="en-US" sz="3200" dirty="0"/>
          </a:p>
        </p:txBody>
      </p:sp>
      <p:sp>
        <p:nvSpPr>
          <p:cNvPr id="4" name="card-83"/>
          <p:cNvSpPr/>
          <p:nvPr/>
        </p:nvSpPr>
        <p:spPr>
          <a:xfrm>
            <a:off x="640080" y="1691640"/>
            <a:ext cx="10911535" cy="740664"/>
          </a:xfrm>
          <a:prstGeom prst="roundRect">
            <a:avLst>
              <a:gd name="adj" fmla="val 987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4E1530">
                <a:alpha val="12000"/>
              </a:srgbClr>
            </a:outerShdw>
          </a:effectLst>
        </p:spPr>
      </p:sp>
      <p:sp>
        <p:nvSpPr>
          <p:cNvPr id="5" name="numbg-84"/>
          <p:cNvSpPr/>
          <p:nvPr/>
        </p:nvSpPr>
        <p:spPr>
          <a:xfrm>
            <a:off x="914400" y="1810512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num-85"/>
          <p:cNvSpPr txBox="1"/>
          <p:nvPr/>
        </p:nvSpPr>
        <p:spPr>
          <a:xfrm>
            <a:off x="914400" y="1810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-86"/>
          <p:cNvSpPr txBox="1"/>
          <p:nvPr/>
        </p:nvSpPr>
        <p:spPr>
          <a:xfrm>
            <a:off x="1645920" y="1691640"/>
            <a:ext cx="9631375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Build a web application using Python, FastAPI, Jinja2, HTML, CSS, JavaScript and MySQL.</a:t>
            </a:r>
            <a:endParaRPr lang="en-US" sz="1600" dirty="0"/>
          </a:p>
        </p:txBody>
      </p:sp>
      <p:sp>
        <p:nvSpPr>
          <p:cNvPr id="8" name="card-87"/>
          <p:cNvSpPr/>
          <p:nvPr/>
        </p:nvSpPr>
        <p:spPr>
          <a:xfrm>
            <a:off x="640080" y="2615184"/>
            <a:ext cx="10911535" cy="740664"/>
          </a:xfrm>
          <a:prstGeom prst="roundRect">
            <a:avLst>
              <a:gd name="adj" fmla="val 987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4E1530">
                <a:alpha val="12000"/>
              </a:srgbClr>
            </a:outerShdw>
          </a:effectLst>
        </p:spPr>
      </p:sp>
      <p:sp>
        <p:nvSpPr>
          <p:cNvPr id="9" name="numbg-88"/>
          <p:cNvSpPr/>
          <p:nvPr/>
        </p:nvSpPr>
        <p:spPr>
          <a:xfrm>
            <a:off x="914400" y="2734056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num-89"/>
          <p:cNvSpPr txBox="1"/>
          <p:nvPr/>
        </p:nvSpPr>
        <p:spPr>
          <a:xfrm>
            <a:off x="914400" y="27340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-90"/>
          <p:cNvSpPr txBox="1"/>
          <p:nvPr/>
        </p:nvSpPr>
        <p:spPr>
          <a:xfrm>
            <a:off x="1645920" y="2615184"/>
            <a:ext cx="9631375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Design a relational database for categories, courses and enrollment records.</a:t>
            </a:r>
            <a:endParaRPr lang="en-US" sz="1600" dirty="0"/>
          </a:p>
        </p:txBody>
      </p:sp>
      <p:sp>
        <p:nvSpPr>
          <p:cNvPr id="12" name="card-91"/>
          <p:cNvSpPr/>
          <p:nvPr/>
        </p:nvSpPr>
        <p:spPr>
          <a:xfrm>
            <a:off x="640080" y="3538728"/>
            <a:ext cx="10911535" cy="740664"/>
          </a:xfrm>
          <a:prstGeom prst="roundRect">
            <a:avLst>
              <a:gd name="adj" fmla="val 987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4E1530">
                <a:alpha val="12000"/>
              </a:srgbClr>
            </a:outerShdw>
          </a:effectLst>
        </p:spPr>
      </p:sp>
      <p:sp>
        <p:nvSpPr>
          <p:cNvPr id="13" name="numbg-92"/>
          <p:cNvSpPr/>
          <p:nvPr/>
        </p:nvSpPr>
        <p:spPr>
          <a:xfrm>
            <a:off x="914400" y="36576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num-93"/>
          <p:cNvSpPr txBox="1"/>
          <p:nvPr/>
        </p:nvSpPr>
        <p:spPr>
          <a:xfrm>
            <a:off x="914400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-94"/>
          <p:cNvSpPr txBox="1"/>
          <p:nvPr/>
        </p:nvSpPr>
        <p:spPr>
          <a:xfrm>
            <a:off x="1645920" y="3538728"/>
            <a:ext cx="9631375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Let learners browse categories, view course details and filter by category.</a:t>
            </a:r>
            <a:endParaRPr lang="en-US" sz="1600" dirty="0"/>
          </a:p>
        </p:txBody>
      </p:sp>
      <p:sp>
        <p:nvSpPr>
          <p:cNvPr id="16" name="card-95"/>
          <p:cNvSpPr/>
          <p:nvPr/>
        </p:nvSpPr>
        <p:spPr>
          <a:xfrm>
            <a:off x="640080" y="4462272"/>
            <a:ext cx="10911535" cy="740664"/>
          </a:xfrm>
          <a:prstGeom prst="roundRect">
            <a:avLst>
              <a:gd name="adj" fmla="val 987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4E1530">
                <a:alpha val="12000"/>
              </a:srgbClr>
            </a:outerShdw>
          </a:effectLst>
        </p:spPr>
      </p:sp>
      <p:sp>
        <p:nvSpPr>
          <p:cNvPr id="17" name="numbg-96"/>
          <p:cNvSpPr/>
          <p:nvPr/>
        </p:nvSpPr>
        <p:spPr>
          <a:xfrm>
            <a:off x="914400" y="4581144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num-97"/>
          <p:cNvSpPr txBox="1"/>
          <p:nvPr/>
        </p:nvSpPr>
        <p:spPr>
          <a:xfrm>
            <a:off x="914400" y="45811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9" name="text-98"/>
          <p:cNvSpPr txBox="1"/>
          <p:nvPr/>
        </p:nvSpPr>
        <p:spPr>
          <a:xfrm>
            <a:off x="1645920" y="4462272"/>
            <a:ext cx="9631375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Provide an online enrollment form with input validation, plus a login page and dashboard.</a:t>
            </a:r>
            <a:endParaRPr lang="en-US" sz="1600" dirty="0"/>
          </a:p>
        </p:txBody>
      </p:sp>
      <p:sp>
        <p:nvSpPr>
          <p:cNvPr id="20" name="card-99"/>
          <p:cNvSpPr/>
          <p:nvPr/>
        </p:nvSpPr>
        <p:spPr>
          <a:xfrm>
            <a:off x="640080" y="5385816"/>
            <a:ext cx="10911535" cy="740664"/>
          </a:xfrm>
          <a:prstGeom prst="roundRect">
            <a:avLst>
              <a:gd name="adj" fmla="val 987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4E1530">
                <a:alpha val="12000"/>
              </a:srgbClr>
            </a:outerShdw>
          </a:effectLst>
        </p:spPr>
      </p:sp>
      <p:sp>
        <p:nvSpPr>
          <p:cNvPr id="21" name="numbg-100"/>
          <p:cNvSpPr/>
          <p:nvPr/>
        </p:nvSpPr>
        <p:spPr>
          <a:xfrm>
            <a:off x="914400" y="5504688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2" name="num-101"/>
          <p:cNvSpPr txBox="1"/>
          <p:nvPr/>
        </p:nvSpPr>
        <p:spPr>
          <a:xfrm>
            <a:off x="914400" y="5504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3" name="text-102"/>
          <p:cNvSpPr txBox="1"/>
          <p:nvPr/>
        </p:nvSpPr>
        <p:spPr>
          <a:xfrm>
            <a:off x="1645920" y="5385816"/>
            <a:ext cx="9631375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Reduce paperwork and data entry errors; automate database setup for easy installation.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PROBLEM AND SOLUTION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713232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Problem identification</a:t>
            </a:r>
            <a:endParaRPr lang="en-US" sz="3200" dirty="0"/>
          </a:p>
        </p:txBody>
      </p:sp>
      <p:sp>
        <p:nvSpPr>
          <p:cNvPr id="4" name="card-103"/>
          <p:cNvSpPr/>
          <p:nvPr/>
        </p:nvSpPr>
        <p:spPr>
          <a:xfrm>
            <a:off x="640080" y="1691640"/>
            <a:ext cx="5318608" cy="2080260"/>
          </a:xfrm>
          <a:prstGeom prst="roundRect">
            <a:avLst>
              <a:gd name="adj" fmla="val 351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4E1530">
                <a:alpha val="12000"/>
              </a:srgbClr>
            </a:outerShdw>
          </a:effectLst>
        </p:spPr>
      </p:sp>
      <p:sp>
        <p:nvSpPr>
          <p:cNvPr id="5" name="iconbg-104"/>
          <p:cNvSpPr/>
          <p:nvPr/>
        </p:nvSpPr>
        <p:spPr>
          <a:xfrm>
            <a:off x="914400" y="19659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con-105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130" y="2091690"/>
            <a:ext cx="251460" cy="251460"/>
          </a:xfrm>
          <a:prstGeom prst="rect">
            <a:avLst/>
          </a:prstGeom>
        </p:spPr>
      </p:pic>
      <p:sp>
        <p:nvSpPr>
          <p:cNvPr id="7" name="ctitle-106"/>
          <p:cNvSpPr txBox="1"/>
          <p:nvPr/>
        </p:nvSpPr>
        <p:spPr>
          <a:xfrm>
            <a:off x="1600200" y="1965960"/>
            <a:ext cx="4084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Manual enrollment</a:t>
            </a:r>
            <a:endParaRPr lang="en-US" sz="1800" dirty="0"/>
          </a:p>
        </p:txBody>
      </p:sp>
      <p:sp>
        <p:nvSpPr>
          <p:cNvPr id="8" name="cbody-107"/>
          <p:cNvSpPr txBox="1"/>
          <p:nvPr/>
        </p:nvSpPr>
        <p:spPr>
          <a:xfrm>
            <a:off x="914400" y="2651760"/>
            <a:ext cx="4769968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Paper forms re-entered into registers or spreadsheets cause spelling mistakes, duplicates and missing records.</a:t>
            </a:r>
            <a:endParaRPr lang="en-US" sz="1600" dirty="0"/>
          </a:p>
        </p:txBody>
      </p:sp>
      <p:sp>
        <p:nvSpPr>
          <p:cNvPr id="9" name="card-108"/>
          <p:cNvSpPr/>
          <p:nvPr/>
        </p:nvSpPr>
        <p:spPr>
          <a:xfrm>
            <a:off x="6233008" y="1691640"/>
            <a:ext cx="5318608" cy="2080260"/>
          </a:xfrm>
          <a:prstGeom prst="roundRect">
            <a:avLst>
              <a:gd name="adj" fmla="val 351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4E1530">
                <a:alpha val="12000"/>
              </a:srgbClr>
            </a:outerShdw>
          </a:effectLst>
        </p:spPr>
      </p:sp>
      <p:sp>
        <p:nvSpPr>
          <p:cNvPr id="10" name="iconbg-109"/>
          <p:cNvSpPr/>
          <p:nvPr/>
        </p:nvSpPr>
        <p:spPr>
          <a:xfrm>
            <a:off x="6507328" y="19659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-110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3058" y="2091690"/>
            <a:ext cx="251460" cy="251460"/>
          </a:xfrm>
          <a:prstGeom prst="rect">
            <a:avLst/>
          </a:prstGeom>
        </p:spPr>
      </p:pic>
      <p:sp>
        <p:nvSpPr>
          <p:cNvPr id="12" name="ctitle-111"/>
          <p:cNvSpPr txBox="1"/>
          <p:nvPr/>
        </p:nvSpPr>
        <p:spPr>
          <a:xfrm>
            <a:off x="7193128" y="1965960"/>
            <a:ext cx="4084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Scattered information</a:t>
            </a:r>
            <a:endParaRPr lang="en-US" sz="1800" dirty="0"/>
          </a:p>
        </p:txBody>
      </p:sp>
      <p:sp>
        <p:nvSpPr>
          <p:cNvPr id="13" name="cbody-112"/>
          <p:cNvSpPr txBox="1"/>
          <p:nvPr/>
        </p:nvSpPr>
        <p:spPr>
          <a:xfrm>
            <a:off x="6507328" y="2651760"/>
            <a:ext cx="4769968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Instructor, duration, level and seats sit in brochures and notice boards that quickly go out of date.</a:t>
            </a:r>
            <a:endParaRPr lang="en-US" sz="1600" dirty="0"/>
          </a:p>
        </p:txBody>
      </p:sp>
      <p:sp>
        <p:nvSpPr>
          <p:cNvPr id="14" name="card-113"/>
          <p:cNvSpPr/>
          <p:nvPr/>
        </p:nvSpPr>
        <p:spPr>
          <a:xfrm>
            <a:off x="640080" y="4046220"/>
            <a:ext cx="5318608" cy="2080260"/>
          </a:xfrm>
          <a:prstGeom prst="roundRect">
            <a:avLst>
              <a:gd name="adj" fmla="val 351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4E1530">
                <a:alpha val="12000"/>
              </a:srgbClr>
            </a:outerShdw>
          </a:effectLst>
        </p:spPr>
      </p:sp>
      <p:sp>
        <p:nvSpPr>
          <p:cNvPr id="15" name="iconbg-114"/>
          <p:cNvSpPr/>
          <p:nvPr/>
        </p:nvSpPr>
        <p:spPr>
          <a:xfrm>
            <a:off x="914400" y="43205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con-115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130" y="4446270"/>
            <a:ext cx="251460" cy="251460"/>
          </a:xfrm>
          <a:prstGeom prst="rect">
            <a:avLst/>
          </a:prstGeom>
        </p:spPr>
      </p:pic>
      <p:sp>
        <p:nvSpPr>
          <p:cNvPr id="17" name="ctitle-116"/>
          <p:cNvSpPr txBox="1"/>
          <p:nvPr/>
        </p:nvSpPr>
        <p:spPr>
          <a:xfrm>
            <a:off x="1600200" y="4320540"/>
            <a:ext cx="4084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Limited accessibility</a:t>
            </a:r>
            <a:endParaRPr lang="en-US" sz="1800" dirty="0"/>
          </a:p>
        </p:txBody>
      </p:sp>
      <p:sp>
        <p:nvSpPr>
          <p:cNvPr id="18" name="cbody-117"/>
          <p:cNvSpPr txBox="1"/>
          <p:nvPr/>
        </p:nvSpPr>
        <p:spPr>
          <a:xfrm>
            <a:off x="914400" y="5006340"/>
            <a:ext cx="4769968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Learners can enroll only in office hours, in person or by phone, with no instant confirmation.</a:t>
            </a:r>
            <a:endParaRPr lang="en-US" sz="1600" dirty="0"/>
          </a:p>
        </p:txBody>
      </p:sp>
      <p:sp>
        <p:nvSpPr>
          <p:cNvPr id="19" name="card-118"/>
          <p:cNvSpPr/>
          <p:nvPr/>
        </p:nvSpPr>
        <p:spPr>
          <a:xfrm>
            <a:off x="6233008" y="4046220"/>
            <a:ext cx="5318608" cy="2080260"/>
          </a:xfrm>
          <a:prstGeom prst="roundRect">
            <a:avLst>
              <a:gd name="adj" fmla="val 351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4E1530">
                <a:alpha val="12000"/>
              </a:srgbClr>
            </a:outerShdw>
          </a:effectLst>
        </p:spPr>
      </p:sp>
      <p:sp>
        <p:nvSpPr>
          <p:cNvPr id="20" name="iconbg-119"/>
          <p:cNvSpPr/>
          <p:nvPr/>
        </p:nvSpPr>
        <p:spPr>
          <a:xfrm>
            <a:off x="6507328" y="43205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icon-120" descr="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3058" y="4446270"/>
            <a:ext cx="251460" cy="251460"/>
          </a:xfrm>
          <a:prstGeom prst="rect">
            <a:avLst/>
          </a:prstGeom>
        </p:spPr>
      </p:pic>
      <p:sp>
        <p:nvSpPr>
          <p:cNvPr id="22" name="ctitle-121"/>
          <p:cNvSpPr txBox="1"/>
          <p:nvPr/>
        </p:nvSpPr>
        <p:spPr>
          <a:xfrm>
            <a:off x="7193128" y="4320540"/>
            <a:ext cx="4084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Hard to track</a:t>
            </a:r>
            <a:endParaRPr lang="en-US" sz="1800" dirty="0"/>
          </a:p>
        </p:txBody>
      </p:sp>
      <p:sp>
        <p:nvSpPr>
          <p:cNvPr id="23" name="cbody-122"/>
          <p:cNvSpPr txBox="1"/>
          <p:nvPr/>
        </p:nvSpPr>
        <p:spPr>
          <a:xfrm>
            <a:off x="6507328" y="5006340"/>
            <a:ext cx="4769968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Counting applicants per course is manual, and queues build up at the counter during admissions.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PROBLEM AND SOLUTION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713232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Proposed solution</a:t>
            </a:r>
            <a:endParaRPr lang="en-US" sz="3200" dirty="0"/>
          </a:p>
        </p:txBody>
      </p:sp>
      <p:sp>
        <p:nvSpPr>
          <p:cNvPr id="4" name="statement-panel"/>
          <p:cNvSpPr/>
          <p:nvPr/>
        </p:nvSpPr>
        <p:spPr>
          <a:xfrm>
            <a:off x="640080" y="1691640"/>
            <a:ext cx="4023360" cy="4434840"/>
          </a:xfrm>
          <a:prstGeom prst="roundRect">
            <a:avLst>
              <a:gd name="adj" fmla="val 1818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4E1530">
                <a:alpha val="12000"/>
              </a:srgbClr>
            </a:outerShdw>
          </a:effectLst>
        </p:spPr>
      </p:sp>
      <p:sp>
        <p:nvSpPr>
          <p:cNvPr id="5" name="iconbg-123"/>
          <p:cNvSpPr/>
          <p:nvPr/>
        </p:nvSpPr>
        <p:spPr>
          <a:xfrm>
            <a:off x="1005840" y="205740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6" name="icon-124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5860" y="2217420"/>
            <a:ext cx="320040" cy="320040"/>
          </a:xfrm>
          <a:prstGeom prst="rect">
            <a:avLst/>
          </a:prstGeom>
        </p:spPr>
      </p:pic>
      <p:sp>
        <p:nvSpPr>
          <p:cNvPr id="7" name="statement"/>
          <p:cNvSpPr txBox="1"/>
          <p:nvPr/>
        </p:nvSpPr>
        <p:spPr>
          <a:xfrm>
            <a:off x="1005840" y="2971800"/>
            <a:ext cx="3291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A centralized, responsive web platform for categories, courses and enrollment records.</a:t>
            </a:r>
            <a:endParaRPr lang="en-US" sz="2400" dirty="0"/>
          </a:p>
        </p:txBody>
      </p:sp>
      <p:sp>
        <p:nvSpPr>
          <p:cNvPr id="8" name="card-125"/>
          <p:cNvSpPr/>
          <p:nvPr/>
        </p:nvSpPr>
        <p:spPr>
          <a:xfrm>
            <a:off x="4937760" y="1691640"/>
            <a:ext cx="6613855" cy="971550"/>
          </a:xfrm>
          <a:prstGeom prst="roundRect">
            <a:avLst>
              <a:gd name="adj" fmla="val 752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4E1530">
                <a:alpha val="12000"/>
              </a:srgbClr>
            </a:outerShdw>
          </a:effectLst>
        </p:spPr>
      </p:sp>
      <p:sp>
        <p:nvSpPr>
          <p:cNvPr id="9" name="iconbg-126"/>
          <p:cNvSpPr/>
          <p:nvPr/>
        </p:nvSpPr>
        <p:spPr>
          <a:xfrm>
            <a:off x="5212080" y="1925955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con-127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7810" y="2051685"/>
            <a:ext cx="251460" cy="251460"/>
          </a:xfrm>
          <a:prstGeom prst="rect">
            <a:avLst/>
          </a:prstGeom>
        </p:spPr>
      </p:pic>
      <p:sp>
        <p:nvSpPr>
          <p:cNvPr id="11" name="text-128"/>
          <p:cNvSpPr txBox="1"/>
          <p:nvPr/>
        </p:nvSpPr>
        <p:spPr>
          <a:xfrm>
            <a:off x="5943600" y="1691640"/>
            <a:ext cx="533369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Category browsing and a course catalog showing instructor, duration, level and seats.</a:t>
            </a:r>
            <a:endParaRPr lang="en-US" sz="1600" dirty="0"/>
          </a:p>
        </p:txBody>
      </p:sp>
      <p:sp>
        <p:nvSpPr>
          <p:cNvPr id="12" name="card-129"/>
          <p:cNvSpPr/>
          <p:nvPr/>
        </p:nvSpPr>
        <p:spPr>
          <a:xfrm>
            <a:off x="4937760" y="2846070"/>
            <a:ext cx="6613855" cy="971550"/>
          </a:xfrm>
          <a:prstGeom prst="roundRect">
            <a:avLst>
              <a:gd name="adj" fmla="val 752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4E1530">
                <a:alpha val="12000"/>
              </a:srgbClr>
            </a:outerShdw>
          </a:effectLst>
        </p:spPr>
      </p:sp>
      <p:sp>
        <p:nvSpPr>
          <p:cNvPr id="13" name="iconbg-130"/>
          <p:cNvSpPr/>
          <p:nvPr/>
        </p:nvSpPr>
        <p:spPr>
          <a:xfrm>
            <a:off x="5212080" y="3080385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icon-131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7810" y="3206115"/>
            <a:ext cx="251460" cy="251460"/>
          </a:xfrm>
          <a:prstGeom prst="rect">
            <a:avLst/>
          </a:prstGeom>
        </p:spPr>
      </p:pic>
      <p:sp>
        <p:nvSpPr>
          <p:cNvPr id="15" name="text-132"/>
          <p:cNvSpPr txBox="1"/>
          <p:nvPr/>
        </p:nvSpPr>
        <p:spPr>
          <a:xfrm>
            <a:off x="5943600" y="2846070"/>
            <a:ext cx="533369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Category filter and an online enrollment form with instant success or error feedback.</a:t>
            </a:r>
            <a:endParaRPr lang="en-US" sz="1600" dirty="0"/>
          </a:p>
        </p:txBody>
      </p:sp>
      <p:sp>
        <p:nvSpPr>
          <p:cNvPr id="16" name="card-133"/>
          <p:cNvSpPr/>
          <p:nvPr/>
        </p:nvSpPr>
        <p:spPr>
          <a:xfrm>
            <a:off x="4937760" y="4000500"/>
            <a:ext cx="6613855" cy="971550"/>
          </a:xfrm>
          <a:prstGeom prst="roundRect">
            <a:avLst>
              <a:gd name="adj" fmla="val 752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4E1530">
                <a:alpha val="12000"/>
              </a:srgbClr>
            </a:outerShdw>
          </a:effectLst>
        </p:spPr>
      </p:sp>
      <p:sp>
        <p:nvSpPr>
          <p:cNvPr id="17" name="iconbg-134"/>
          <p:cNvSpPr/>
          <p:nvPr/>
        </p:nvSpPr>
        <p:spPr>
          <a:xfrm>
            <a:off x="5212080" y="4234815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icon-135" descr="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7810" y="4360545"/>
            <a:ext cx="251460" cy="251460"/>
          </a:xfrm>
          <a:prstGeom prst="rect">
            <a:avLst/>
          </a:prstGeom>
        </p:spPr>
      </p:pic>
      <p:sp>
        <p:nvSpPr>
          <p:cNvPr id="19" name="text-136"/>
          <p:cNvSpPr txBox="1"/>
          <p:nvPr/>
        </p:nvSpPr>
        <p:spPr>
          <a:xfrm>
            <a:off x="5943600" y="4000500"/>
            <a:ext cx="533369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Login page and a dashboard with summary figures and the latest enrollment requests.</a:t>
            </a:r>
            <a:endParaRPr lang="en-US" sz="1600" dirty="0"/>
          </a:p>
        </p:txBody>
      </p:sp>
      <p:sp>
        <p:nvSpPr>
          <p:cNvPr id="20" name="card-137"/>
          <p:cNvSpPr/>
          <p:nvPr/>
        </p:nvSpPr>
        <p:spPr>
          <a:xfrm>
            <a:off x="4937760" y="5154930"/>
            <a:ext cx="6613855" cy="971550"/>
          </a:xfrm>
          <a:prstGeom prst="roundRect">
            <a:avLst>
              <a:gd name="adj" fmla="val 752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4E1530">
                <a:alpha val="12000"/>
              </a:srgbClr>
            </a:outerShdw>
          </a:effectLst>
        </p:spPr>
      </p:sp>
      <p:sp>
        <p:nvSpPr>
          <p:cNvPr id="21" name="iconbg-138"/>
          <p:cNvSpPr/>
          <p:nvPr/>
        </p:nvSpPr>
        <p:spPr>
          <a:xfrm>
            <a:off x="5212080" y="5389245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2" name="icon-139" descr="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7810" y="5514975"/>
            <a:ext cx="251460" cy="251460"/>
          </a:xfrm>
          <a:prstGeom prst="rect">
            <a:avLst/>
          </a:prstGeom>
        </p:spPr>
      </p:pic>
      <p:sp>
        <p:nvSpPr>
          <p:cNvPr id="23" name="text-140"/>
          <p:cNvSpPr txBox="1"/>
          <p:nvPr/>
        </p:nvSpPr>
        <p:spPr>
          <a:xfrm>
            <a:off x="5943600" y="5154930"/>
            <a:ext cx="533369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Tables and sample data are created automatically on first start.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PROBLEM AND SOLUTION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713232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Information managed</a:t>
            </a:r>
            <a:endParaRPr lang="en-US" sz="3200" dirty="0"/>
          </a:p>
        </p:txBody>
      </p:sp>
      <p:sp>
        <p:nvSpPr>
          <p:cNvPr id="4" name="card-141"/>
          <p:cNvSpPr/>
          <p:nvPr/>
        </p:nvSpPr>
        <p:spPr>
          <a:xfrm>
            <a:off x="640080" y="1691640"/>
            <a:ext cx="3454298" cy="3520440"/>
          </a:xfrm>
          <a:prstGeom prst="roundRect">
            <a:avLst>
              <a:gd name="adj" fmla="val 211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4E1530">
                <a:alpha val="12000"/>
              </a:srgbClr>
            </a:outerShdw>
          </a:effectLst>
        </p:spPr>
      </p:sp>
      <p:sp>
        <p:nvSpPr>
          <p:cNvPr id="5" name="iconbg-142"/>
          <p:cNvSpPr/>
          <p:nvPr/>
        </p:nvSpPr>
        <p:spPr>
          <a:xfrm>
            <a:off x="914400" y="19659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con-143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130" y="2091690"/>
            <a:ext cx="251460" cy="251460"/>
          </a:xfrm>
          <a:prstGeom prst="rect">
            <a:avLst/>
          </a:prstGeom>
        </p:spPr>
      </p:pic>
      <p:sp>
        <p:nvSpPr>
          <p:cNvPr id="7" name="ctitle-144"/>
          <p:cNvSpPr txBox="1"/>
          <p:nvPr/>
        </p:nvSpPr>
        <p:spPr>
          <a:xfrm>
            <a:off x="1600200" y="1965960"/>
            <a:ext cx="22198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Categories</a:t>
            </a:r>
            <a:endParaRPr lang="en-US" sz="1800" dirty="0"/>
          </a:p>
        </p:txBody>
      </p:sp>
      <p:sp>
        <p:nvSpPr>
          <p:cNvPr id="8" name="cbody-145"/>
          <p:cNvSpPr txBox="1"/>
          <p:nvPr/>
        </p:nvSpPr>
        <p:spPr>
          <a:xfrm>
            <a:off x="914400" y="2651760"/>
            <a:ext cx="290565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ID, name, description, icon and colour.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chemeClr val="accent5"/>
                </a:solidFill>
              </a:rPr>
              <a:t>Five sample categories, such as Computer Science and Data Science.</a:t>
            </a:r>
            <a:endParaRPr lang="en-US" sz="1500" dirty="0"/>
          </a:p>
        </p:txBody>
      </p:sp>
      <p:sp>
        <p:nvSpPr>
          <p:cNvPr id="9" name="card-146"/>
          <p:cNvSpPr/>
          <p:nvPr/>
        </p:nvSpPr>
        <p:spPr>
          <a:xfrm>
            <a:off x="4368698" y="1691640"/>
            <a:ext cx="3454298" cy="3520440"/>
          </a:xfrm>
          <a:prstGeom prst="roundRect">
            <a:avLst>
              <a:gd name="adj" fmla="val 211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4E1530">
                <a:alpha val="12000"/>
              </a:srgbClr>
            </a:outerShdw>
          </a:effectLst>
        </p:spPr>
      </p:sp>
      <p:sp>
        <p:nvSpPr>
          <p:cNvPr id="10" name="iconbg-147"/>
          <p:cNvSpPr/>
          <p:nvPr/>
        </p:nvSpPr>
        <p:spPr>
          <a:xfrm>
            <a:off x="4643018" y="19659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-148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8748" y="2091690"/>
            <a:ext cx="251460" cy="251460"/>
          </a:xfrm>
          <a:prstGeom prst="rect">
            <a:avLst/>
          </a:prstGeom>
        </p:spPr>
      </p:pic>
      <p:sp>
        <p:nvSpPr>
          <p:cNvPr id="12" name="ctitle-149"/>
          <p:cNvSpPr txBox="1"/>
          <p:nvPr/>
        </p:nvSpPr>
        <p:spPr>
          <a:xfrm>
            <a:off x="5328818" y="1965960"/>
            <a:ext cx="22198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Courses</a:t>
            </a:r>
            <a:endParaRPr lang="en-US" sz="1800" dirty="0"/>
          </a:p>
        </p:txBody>
      </p:sp>
      <p:sp>
        <p:nvSpPr>
          <p:cNvPr id="13" name="cbody-150"/>
          <p:cNvSpPr txBox="1"/>
          <p:nvPr/>
        </p:nvSpPr>
        <p:spPr>
          <a:xfrm>
            <a:off x="4643018" y="2651760"/>
            <a:ext cx="290565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Title, category, instructor, duration, level, description and seats.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chemeClr val="accent5"/>
                </a:solidFill>
              </a:rPr>
              <a:t>Six sample courses linked to categories.</a:t>
            </a:r>
            <a:endParaRPr lang="en-US" sz="1500" dirty="0"/>
          </a:p>
        </p:txBody>
      </p:sp>
      <p:sp>
        <p:nvSpPr>
          <p:cNvPr id="14" name="card-151"/>
          <p:cNvSpPr/>
          <p:nvPr/>
        </p:nvSpPr>
        <p:spPr>
          <a:xfrm>
            <a:off x="8097317" y="1691640"/>
            <a:ext cx="3454298" cy="3520440"/>
          </a:xfrm>
          <a:prstGeom prst="roundRect">
            <a:avLst>
              <a:gd name="adj" fmla="val 211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4E1530">
                <a:alpha val="12000"/>
              </a:srgbClr>
            </a:outerShdw>
          </a:effectLst>
        </p:spPr>
      </p:sp>
      <p:sp>
        <p:nvSpPr>
          <p:cNvPr id="15" name="iconbg-152"/>
          <p:cNvSpPr/>
          <p:nvPr/>
        </p:nvSpPr>
        <p:spPr>
          <a:xfrm>
            <a:off x="8371637" y="19659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con-153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7367" y="2091690"/>
            <a:ext cx="251460" cy="251460"/>
          </a:xfrm>
          <a:prstGeom prst="rect">
            <a:avLst/>
          </a:prstGeom>
        </p:spPr>
      </p:pic>
      <p:sp>
        <p:nvSpPr>
          <p:cNvPr id="17" name="ctitle-154"/>
          <p:cNvSpPr txBox="1"/>
          <p:nvPr/>
        </p:nvSpPr>
        <p:spPr>
          <a:xfrm>
            <a:off x="9057437" y="1965960"/>
            <a:ext cx="22198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Enrollments</a:t>
            </a:r>
            <a:endParaRPr lang="en-US" sz="1800" dirty="0"/>
          </a:p>
        </p:txBody>
      </p:sp>
      <p:sp>
        <p:nvSpPr>
          <p:cNvPr id="18" name="cbody-155"/>
          <p:cNvSpPr txBox="1"/>
          <p:nvPr/>
        </p:nvSpPr>
        <p:spPr>
          <a:xfrm>
            <a:off x="8371637" y="2651760"/>
            <a:ext cx="290565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Student name, email, phone, category and course.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chemeClr val="accent5"/>
                </a:solidFill>
              </a:rPr>
              <a:t>Status defaults to Pending; time of submission is recorded.</a:t>
            </a:r>
            <a:endParaRPr lang="en-US" sz="1500" dirty="0"/>
          </a:p>
        </p:txBody>
      </p:sp>
      <p:sp>
        <p:nvSpPr>
          <p:cNvPr id="19" name="pill"/>
          <p:cNvSpPr/>
          <p:nvPr/>
        </p:nvSpPr>
        <p:spPr>
          <a:xfrm>
            <a:off x="640080" y="5440680"/>
            <a:ext cx="10911535" cy="685800"/>
          </a:xfrm>
          <a:prstGeom prst="roundRect">
            <a:avLst>
              <a:gd name="adj" fmla="val 10667"/>
            </a:avLst>
          </a:prstGeom>
          <a:solidFill>
            <a:schemeClr val="tx2"/>
          </a:solidFill>
          <a:ln/>
        </p:spPr>
      </p:sp>
      <p:sp>
        <p:nvSpPr>
          <p:cNvPr id="20" name="iconbg-156"/>
          <p:cNvSpPr/>
          <p:nvPr/>
        </p:nvSpPr>
        <p:spPr>
          <a:xfrm>
            <a:off x="914400" y="553212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1" name="icon-157" descr="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130" y="5657850"/>
            <a:ext cx="251460" cy="251460"/>
          </a:xfrm>
          <a:prstGeom prst="rect">
            <a:avLst/>
          </a:prstGeom>
        </p:spPr>
      </p:pic>
      <p:sp>
        <p:nvSpPr>
          <p:cNvPr id="22" name="pilltext"/>
          <p:cNvSpPr txBox="1"/>
          <p:nvPr/>
        </p:nvSpPr>
        <p:spPr>
          <a:xfrm>
            <a:off x="1645920" y="5440680"/>
            <a:ext cx="96313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Data is stored in MySQL and accessed with parameterised SQL queries.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SYSTEM DESIGN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713232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Three-tier system architecture</a:t>
            </a:r>
            <a:endParaRPr lang="en-US" sz="3200" dirty="0"/>
          </a:p>
        </p:txBody>
      </p:sp>
      <p:sp>
        <p:nvSpPr>
          <p:cNvPr id="4" name="card-158"/>
          <p:cNvSpPr/>
          <p:nvPr/>
        </p:nvSpPr>
        <p:spPr>
          <a:xfrm>
            <a:off x="640080" y="1691640"/>
            <a:ext cx="7223760" cy="109728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4E1530">
                <a:alpha val="12000"/>
              </a:srgbClr>
            </a:outerShdw>
          </a:effectLst>
        </p:spPr>
      </p:sp>
      <p:sp>
        <p:nvSpPr>
          <p:cNvPr id="5" name="iconbg-159"/>
          <p:cNvSpPr/>
          <p:nvPr/>
        </p:nvSpPr>
        <p:spPr>
          <a:xfrm>
            <a:off x="960120" y="19202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con-160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" y="2080260"/>
            <a:ext cx="320040" cy="320040"/>
          </a:xfrm>
          <a:prstGeom prst="rect">
            <a:avLst/>
          </a:prstGeom>
        </p:spPr>
      </p:pic>
      <p:sp>
        <p:nvSpPr>
          <p:cNvPr id="7" name="layer-h-161"/>
          <p:cNvSpPr txBox="1"/>
          <p:nvPr/>
        </p:nvSpPr>
        <p:spPr>
          <a:xfrm>
            <a:off x="1920240" y="187452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PRESENTATION LAYER</a:t>
            </a:r>
            <a:endParaRPr lang="en-US" sz="1300" dirty="0"/>
          </a:p>
        </p:txBody>
      </p:sp>
      <p:sp>
        <p:nvSpPr>
          <p:cNvPr id="8" name="layer-t-162"/>
          <p:cNvSpPr txBox="1"/>
          <p:nvPr/>
        </p:nvSpPr>
        <p:spPr>
          <a:xfrm>
            <a:off x="1920240" y="2221992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Web browser  •  HTML5  •  CSS3  •  JavaScript</a:t>
            </a:r>
            <a:endParaRPr lang="en-US" sz="1800" dirty="0"/>
          </a:p>
        </p:txBody>
      </p:sp>
      <p:sp>
        <p:nvSpPr>
          <p:cNvPr id="9" name="arrow-163"/>
          <p:cNvSpPr/>
          <p:nvPr/>
        </p:nvSpPr>
        <p:spPr>
          <a:xfrm>
            <a:off x="4050792" y="2880360"/>
            <a:ext cx="402336" cy="388620"/>
          </a:xfrm>
          <a:prstGeom prst="downArrow">
            <a:avLst/>
          </a:prstGeom>
          <a:solidFill>
            <a:schemeClr val="accent2"/>
          </a:solidFill>
          <a:ln/>
        </p:spPr>
      </p:sp>
      <p:sp>
        <p:nvSpPr>
          <p:cNvPr id="10" name="card-164"/>
          <p:cNvSpPr/>
          <p:nvPr/>
        </p:nvSpPr>
        <p:spPr>
          <a:xfrm>
            <a:off x="640080" y="3360420"/>
            <a:ext cx="7223760" cy="109728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4E1530">
                <a:alpha val="12000"/>
              </a:srgbClr>
            </a:outerShdw>
          </a:effectLst>
        </p:spPr>
      </p:sp>
      <p:sp>
        <p:nvSpPr>
          <p:cNvPr id="11" name="iconbg-165"/>
          <p:cNvSpPr/>
          <p:nvPr/>
        </p:nvSpPr>
        <p:spPr>
          <a:xfrm>
            <a:off x="960120" y="35890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con-166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" y="3749040"/>
            <a:ext cx="320040" cy="320040"/>
          </a:xfrm>
          <a:prstGeom prst="rect">
            <a:avLst/>
          </a:prstGeom>
        </p:spPr>
      </p:pic>
      <p:sp>
        <p:nvSpPr>
          <p:cNvPr id="13" name="layer-h-167"/>
          <p:cNvSpPr txBox="1"/>
          <p:nvPr/>
        </p:nvSpPr>
        <p:spPr>
          <a:xfrm>
            <a:off x="1920240" y="354330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BUSINESS LOGIC LAYER</a:t>
            </a:r>
            <a:endParaRPr lang="en-US" sz="1300" dirty="0"/>
          </a:p>
        </p:txBody>
      </p:sp>
      <p:sp>
        <p:nvSpPr>
          <p:cNvPr id="14" name="layer-t-168"/>
          <p:cNvSpPr txBox="1"/>
          <p:nvPr/>
        </p:nvSpPr>
        <p:spPr>
          <a:xfrm>
            <a:off x="1920240" y="3890772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FastAPI  •  Jinja2 templates  •  Uvicorn server</a:t>
            </a:r>
            <a:endParaRPr lang="en-US" sz="1800" dirty="0"/>
          </a:p>
        </p:txBody>
      </p:sp>
      <p:sp>
        <p:nvSpPr>
          <p:cNvPr id="15" name="arrow-169"/>
          <p:cNvSpPr/>
          <p:nvPr/>
        </p:nvSpPr>
        <p:spPr>
          <a:xfrm>
            <a:off x="4050792" y="4549140"/>
            <a:ext cx="402336" cy="388620"/>
          </a:xfrm>
          <a:prstGeom prst="downArrow">
            <a:avLst/>
          </a:prstGeom>
          <a:solidFill>
            <a:schemeClr val="accent2"/>
          </a:solidFill>
          <a:ln/>
        </p:spPr>
      </p:sp>
      <p:sp>
        <p:nvSpPr>
          <p:cNvPr id="16" name="card-170"/>
          <p:cNvSpPr/>
          <p:nvPr/>
        </p:nvSpPr>
        <p:spPr>
          <a:xfrm>
            <a:off x="640080" y="5029200"/>
            <a:ext cx="7223760" cy="109728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4E1530">
                <a:alpha val="12000"/>
              </a:srgbClr>
            </a:outerShdw>
          </a:effectLst>
        </p:spPr>
      </p:sp>
      <p:sp>
        <p:nvSpPr>
          <p:cNvPr id="17" name="iconbg-171"/>
          <p:cNvSpPr/>
          <p:nvPr/>
        </p:nvSpPr>
        <p:spPr>
          <a:xfrm>
            <a:off x="960120" y="52578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icon-172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" y="5417820"/>
            <a:ext cx="320040" cy="320040"/>
          </a:xfrm>
          <a:prstGeom prst="rect">
            <a:avLst/>
          </a:prstGeom>
        </p:spPr>
      </p:pic>
      <p:sp>
        <p:nvSpPr>
          <p:cNvPr id="19" name="layer-h-173"/>
          <p:cNvSpPr txBox="1"/>
          <p:nvPr/>
        </p:nvSpPr>
        <p:spPr>
          <a:xfrm>
            <a:off x="1920240" y="521208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DATABASE LAYER</a:t>
            </a:r>
            <a:endParaRPr lang="en-US" sz="1300" dirty="0"/>
          </a:p>
        </p:txBody>
      </p:sp>
      <p:sp>
        <p:nvSpPr>
          <p:cNvPr id="20" name="layer-t-174"/>
          <p:cNvSpPr txBox="1"/>
          <p:nvPr/>
        </p:nvSpPr>
        <p:spPr>
          <a:xfrm>
            <a:off x="1920240" y="5559552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MySQL  •  categories, courses, enrollments</a:t>
            </a:r>
            <a:endParaRPr lang="en-US" sz="1800" dirty="0"/>
          </a:p>
        </p:txBody>
      </p:sp>
      <p:sp>
        <p:nvSpPr>
          <p:cNvPr id="21" name="flow-panel"/>
          <p:cNvSpPr/>
          <p:nvPr/>
        </p:nvSpPr>
        <p:spPr>
          <a:xfrm>
            <a:off x="8183880" y="1691640"/>
            <a:ext cx="3367735" cy="4434840"/>
          </a:xfrm>
          <a:prstGeom prst="roundRect">
            <a:avLst>
              <a:gd name="adj" fmla="val 2172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4E1530">
                <a:alpha val="12000"/>
              </a:srgbClr>
            </a:outerShdw>
          </a:effectLst>
        </p:spPr>
      </p:sp>
      <p:sp>
        <p:nvSpPr>
          <p:cNvPr id="22" name="flow-title"/>
          <p:cNvSpPr txBox="1"/>
          <p:nvPr/>
        </p:nvSpPr>
        <p:spPr>
          <a:xfrm>
            <a:off x="8458200" y="1920240"/>
            <a:ext cx="2819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REQUEST FLOW</a:t>
            </a:r>
            <a:endParaRPr lang="en-US" sz="1300" dirty="0"/>
          </a:p>
        </p:txBody>
      </p:sp>
      <p:sp>
        <p:nvSpPr>
          <p:cNvPr id="23" name="flow-list"/>
          <p:cNvSpPr txBox="1"/>
          <p:nvPr/>
        </p:nvSpPr>
        <p:spPr>
          <a:xfrm>
            <a:off x="8458200" y="2423160"/>
            <a:ext cx="2819095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1   Browser</a:t>
            </a:r>
            <a:endParaRPr lang="en-US" sz="16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2   Route handler</a:t>
            </a:r>
            <a:endParaRPr lang="en-US" sz="16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3   Validation</a:t>
            </a:r>
            <a:endParaRPr lang="en-US" sz="16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4   SQL</a:t>
            </a:r>
            <a:endParaRPr lang="en-US" sz="16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5   MySQL</a:t>
            </a:r>
            <a:endParaRPr lang="en-US" sz="16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6   Jinja2 template</a:t>
            </a:r>
            <a:endParaRPr lang="en-US" sz="16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7   HTML page</a:t>
            </a:r>
            <a:endParaRPr lang="en-US" sz="16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8   User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SYSTEM DESIGN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713232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Block diagram</a:t>
            </a:r>
            <a:endParaRPr lang="en-US" sz="3200" dirty="0"/>
          </a:p>
        </p:txBody>
      </p:sp>
      <p:sp>
        <p:nvSpPr>
          <p:cNvPr id="4" name="card-175"/>
          <p:cNvSpPr/>
          <p:nvPr/>
        </p:nvSpPr>
        <p:spPr>
          <a:xfrm>
            <a:off x="640080" y="1691640"/>
            <a:ext cx="4279507" cy="4434840"/>
          </a:xfrm>
          <a:prstGeom prst="roundRect">
            <a:avLst>
              <a:gd name="adj" fmla="val 170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4E1530">
                <a:alpha val="12000"/>
              </a:srgbClr>
            </a:outerShdw>
          </a:effectLst>
        </p:spPr>
      </p:sp>
      <p:pic>
        <p:nvPicPr>
          <p:cNvPr id="5" name="block-diagram" descr="System block diagram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1828800"/>
            <a:ext cx="4005187" cy="4160520"/>
          </a:xfrm>
          <a:prstGeom prst="rect">
            <a:avLst/>
          </a:prstGeom>
        </p:spPr>
      </p:pic>
      <p:sp>
        <p:nvSpPr>
          <p:cNvPr id="6" name="card-176"/>
          <p:cNvSpPr/>
          <p:nvPr/>
        </p:nvSpPr>
        <p:spPr>
          <a:xfrm>
            <a:off x="5239627" y="1691640"/>
            <a:ext cx="6311988" cy="971550"/>
          </a:xfrm>
          <a:prstGeom prst="roundRect">
            <a:avLst>
              <a:gd name="adj" fmla="val 752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4E1530">
                <a:alpha val="12000"/>
              </a:srgbClr>
            </a:outerShdw>
          </a:effectLst>
        </p:spPr>
      </p:sp>
      <p:sp>
        <p:nvSpPr>
          <p:cNvPr id="7" name="numbg-177"/>
          <p:cNvSpPr/>
          <p:nvPr/>
        </p:nvSpPr>
        <p:spPr>
          <a:xfrm>
            <a:off x="5513947" y="1925955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num-178"/>
          <p:cNvSpPr txBox="1"/>
          <p:nvPr/>
        </p:nvSpPr>
        <p:spPr>
          <a:xfrm>
            <a:off x="5513947" y="1925955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-179"/>
          <p:cNvSpPr txBox="1"/>
          <p:nvPr/>
        </p:nvSpPr>
        <p:spPr>
          <a:xfrm>
            <a:off x="6245467" y="1691640"/>
            <a:ext cx="5031828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learner opens pages, views courses and submits the enrollment form.</a:t>
            </a:r>
            <a:endParaRPr lang="en-US" sz="1500" dirty="0"/>
          </a:p>
        </p:txBody>
      </p:sp>
      <p:sp>
        <p:nvSpPr>
          <p:cNvPr id="10" name="card-180"/>
          <p:cNvSpPr/>
          <p:nvPr/>
        </p:nvSpPr>
        <p:spPr>
          <a:xfrm>
            <a:off x="5239627" y="2846070"/>
            <a:ext cx="6311988" cy="971550"/>
          </a:xfrm>
          <a:prstGeom prst="roundRect">
            <a:avLst>
              <a:gd name="adj" fmla="val 752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4E1530">
                <a:alpha val="12000"/>
              </a:srgbClr>
            </a:outerShdw>
          </a:effectLst>
        </p:spPr>
      </p:sp>
      <p:sp>
        <p:nvSpPr>
          <p:cNvPr id="11" name="numbg-181"/>
          <p:cNvSpPr/>
          <p:nvPr/>
        </p:nvSpPr>
        <p:spPr>
          <a:xfrm>
            <a:off x="5513947" y="3080385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num-182"/>
          <p:cNvSpPr txBox="1"/>
          <p:nvPr/>
        </p:nvSpPr>
        <p:spPr>
          <a:xfrm>
            <a:off x="5513947" y="3080385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-183"/>
          <p:cNvSpPr txBox="1"/>
          <p:nvPr/>
        </p:nvSpPr>
        <p:spPr>
          <a:xfrm>
            <a:off x="6245467" y="2846070"/>
            <a:ext cx="5031828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 FastAPI route handler receives each request and validates the input.</a:t>
            </a:r>
            <a:endParaRPr lang="en-US" sz="1500" dirty="0"/>
          </a:p>
        </p:txBody>
      </p:sp>
      <p:sp>
        <p:nvSpPr>
          <p:cNvPr id="14" name="card-184"/>
          <p:cNvSpPr/>
          <p:nvPr/>
        </p:nvSpPr>
        <p:spPr>
          <a:xfrm>
            <a:off x="5239627" y="4000500"/>
            <a:ext cx="6311988" cy="971550"/>
          </a:xfrm>
          <a:prstGeom prst="roundRect">
            <a:avLst>
              <a:gd name="adj" fmla="val 752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4E1530">
                <a:alpha val="12000"/>
              </a:srgbClr>
            </a:outerShdw>
          </a:effectLst>
        </p:spPr>
      </p:sp>
      <p:sp>
        <p:nvSpPr>
          <p:cNvPr id="15" name="numbg-185"/>
          <p:cNvSpPr/>
          <p:nvPr/>
        </p:nvSpPr>
        <p:spPr>
          <a:xfrm>
            <a:off x="5513947" y="4234815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num-186"/>
          <p:cNvSpPr txBox="1"/>
          <p:nvPr/>
        </p:nvSpPr>
        <p:spPr>
          <a:xfrm>
            <a:off x="5513947" y="4234815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-187"/>
          <p:cNvSpPr txBox="1"/>
          <p:nvPr/>
        </p:nvSpPr>
        <p:spPr>
          <a:xfrm>
            <a:off x="6245467" y="4000500"/>
            <a:ext cx="5031828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 SQL query reads from or inserts into MySQL.</a:t>
            </a:r>
            <a:endParaRPr lang="en-US" sz="1500" dirty="0"/>
          </a:p>
        </p:txBody>
      </p:sp>
      <p:sp>
        <p:nvSpPr>
          <p:cNvPr id="18" name="card-188"/>
          <p:cNvSpPr/>
          <p:nvPr/>
        </p:nvSpPr>
        <p:spPr>
          <a:xfrm>
            <a:off x="5239627" y="5154930"/>
            <a:ext cx="6311988" cy="971550"/>
          </a:xfrm>
          <a:prstGeom prst="roundRect">
            <a:avLst>
              <a:gd name="adj" fmla="val 752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4E1530">
                <a:alpha val="12000"/>
              </a:srgbClr>
            </a:outerShdw>
          </a:effectLst>
        </p:spPr>
      </p:sp>
      <p:sp>
        <p:nvSpPr>
          <p:cNvPr id="19" name="numbg-189"/>
          <p:cNvSpPr/>
          <p:nvPr/>
        </p:nvSpPr>
        <p:spPr>
          <a:xfrm>
            <a:off x="5513947" y="5389245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num-190"/>
          <p:cNvSpPr txBox="1"/>
          <p:nvPr/>
        </p:nvSpPr>
        <p:spPr>
          <a:xfrm>
            <a:off x="5513947" y="5389245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-191"/>
          <p:cNvSpPr txBox="1"/>
          <p:nvPr/>
        </p:nvSpPr>
        <p:spPr>
          <a:xfrm>
            <a:off x="6245467" y="5154930"/>
            <a:ext cx="5031828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 Jinja2 template is rendered and the HTML page is returned to the browser.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SYSTEM DESIGN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713232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Functional modules</a:t>
            </a:r>
            <a:endParaRPr lang="en-US" sz="3200" dirty="0"/>
          </a:p>
        </p:txBody>
      </p:sp>
      <p:sp>
        <p:nvSpPr>
          <p:cNvPr id="4" name="card-192"/>
          <p:cNvSpPr/>
          <p:nvPr/>
        </p:nvSpPr>
        <p:spPr>
          <a:xfrm>
            <a:off x="640080" y="1691640"/>
            <a:ext cx="5318608" cy="2080260"/>
          </a:xfrm>
          <a:prstGeom prst="roundRect">
            <a:avLst>
              <a:gd name="adj" fmla="val 351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4E1530">
                <a:alpha val="12000"/>
              </a:srgbClr>
            </a:outerShdw>
          </a:effectLst>
        </p:spPr>
      </p:sp>
      <p:sp>
        <p:nvSpPr>
          <p:cNvPr id="5" name="numbg-193"/>
          <p:cNvSpPr/>
          <p:nvPr/>
        </p:nvSpPr>
        <p:spPr>
          <a:xfrm>
            <a:off x="914400" y="19659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num-194"/>
          <p:cNvSpPr txBox="1"/>
          <p:nvPr/>
        </p:nvSpPr>
        <p:spPr>
          <a:xfrm>
            <a:off x="91440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ctitle-195"/>
          <p:cNvSpPr txBox="1"/>
          <p:nvPr/>
        </p:nvSpPr>
        <p:spPr>
          <a:xfrm>
            <a:off x="1600200" y="1965960"/>
            <a:ext cx="4084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Home and categories</a:t>
            </a:r>
            <a:endParaRPr lang="en-US" sz="1800" dirty="0"/>
          </a:p>
        </p:txBody>
      </p:sp>
      <p:sp>
        <p:nvSpPr>
          <p:cNvPr id="8" name="cbody-196"/>
          <p:cNvSpPr txBox="1"/>
          <p:nvPr/>
        </p:nvSpPr>
        <p:spPr>
          <a:xfrm>
            <a:off x="914400" y="2651760"/>
            <a:ext cx="4769968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Platform introduction, statistics and category cards with Open category links.</a:t>
            </a:r>
            <a:endParaRPr lang="en-US" sz="1600" dirty="0"/>
          </a:p>
        </p:txBody>
      </p:sp>
      <p:sp>
        <p:nvSpPr>
          <p:cNvPr id="9" name="card-197"/>
          <p:cNvSpPr/>
          <p:nvPr/>
        </p:nvSpPr>
        <p:spPr>
          <a:xfrm>
            <a:off x="6233008" y="1691640"/>
            <a:ext cx="5318608" cy="2080260"/>
          </a:xfrm>
          <a:prstGeom prst="roundRect">
            <a:avLst>
              <a:gd name="adj" fmla="val 351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4E1530">
                <a:alpha val="12000"/>
              </a:srgbClr>
            </a:outerShdw>
          </a:effectLst>
        </p:spPr>
      </p:sp>
      <p:sp>
        <p:nvSpPr>
          <p:cNvPr id="10" name="numbg-198"/>
          <p:cNvSpPr/>
          <p:nvPr/>
        </p:nvSpPr>
        <p:spPr>
          <a:xfrm>
            <a:off x="6507328" y="19659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num-199"/>
          <p:cNvSpPr txBox="1"/>
          <p:nvPr/>
        </p:nvSpPr>
        <p:spPr>
          <a:xfrm>
            <a:off x="6507328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2" name="ctitle-200"/>
          <p:cNvSpPr txBox="1"/>
          <p:nvPr/>
        </p:nvSpPr>
        <p:spPr>
          <a:xfrm>
            <a:off x="7193128" y="1965960"/>
            <a:ext cx="4084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Course catalog</a:t>
            </a:r>
            <a:endParaRPr lang="en-US" sz="1800" dirty="0"/>
          </a:p>
        </p:txBody>
      </p:sp>
      <p:sp>
        <p:nvSpPr>
          <p:cNvPr id="13" name="cbody-201"/>
          <p:cNvSpPr txBox="1"/>
          <p:nvPr/>
        </p:nvSpPr>
        <p:spPr>
          <a:xfrm>
            <a:off x="6507328" y="2651760"/>
            <a:ext cx="4769968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Course details from a JOIN query, with a category filter dropdown.</a:t>
            </a:r>
            <a:endParaRPr lang="en-US" sz="1600" dirty="0"/>
          </a:p>
        </p:txBody>
      </p:sp>
      <p:sp>
        <p:nvSpPr>
          <p:cNvPr id="14" name="card-202"/>
          <p:cNvSpPr/>
          <p:nvPr/>
        </p:nvSpPr>
        <p:spPr>
          <a:xfrm>
            <a:off x="640080" y="4046220"/>
            <a:ext cx="5318608" cy="2080260"/>
          </a:xfrm>
          <a:prstGeom prst="roundRect">
            <a:avLst>
              <a:gd name="adj" fmla="val 351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4E1530">
                <a:alpha val="12000"/>
              </a:srgbClr>
            </a:outerShdw>
          </a:effectLst>
        </p:spPr>
      </p:sp>
      <p:sp>
        <p:nvSpPr>
          <p:cNvPr id="15" name="numbg-203"/>
          <p:cNvSpPr/>
          <p:nvPr/>
        </p:nvSpPr>
        <p:spPr>
          <a:xfrm>
            <a:off x="914400" y="43205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num-204"/>
          <p:cNvSpPr txBox="1"/>
          <p:nvPr/>
        </p:nvSpPr>
        <p:spPr>
          <a:xfrm>
            <a:off x="914400" y="43205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7" name="ctitle-205"/>
          <p:cNvSpPr txBox="1"/>
          <p:nvPr/>
        </p:nvSpPr>
        <p:spPr>
          <a:xfrm>
            <a:off x="1600200" y="4320540"/>
            <a:ext cx="4084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Online enrollment</a:t>
            </a:r>
            <a:endParaRPr lang="en-US" sz="1800" dirty="0"/>
          </a:p>
        </p:txBody>
      </p:sp>
      <p:sp>
        <p:nvSpPr>
          <p:cNvPr id="18" name="cbody-206"/>
          <p:cNvSpPr txBox="1"/>
          <p:nvPr/>
        </p:nvSpPr>
        <p:spPr>
          <a:xfrm>
            <a:off x="914400" y="5006340"/>
            <a:ext cx="4769968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Form with validation; saves the request with status Pending.</a:t>
            </a:r>
            <a:endParaRPr lang="en-US" sz="1600" dirty="0"/>
          </a:p>
        </p:txBody>
      </p:sp>
      <p:sp>
        <p:nvSpPr>
          <p:cNvPr id="19" name="card-207"/>
          <p:cNvSpPr/>
          <p:nvPr/>
        </p:nvSpPr>
        <p:spPr>
          <a:xfrm>
            <a:off x="6233008" y="4046220"/>
            <a:ext cx="5318608" cy="2080260"/>
          </a:xfrm>
          <a:prstGeom prst="roundRect">
            <a:avLst>
              <a:gd name="adj" fmla="val 351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4E1530">
                <a:alpha val="12000"/>
              </a:srgbClr>
            </a:outerShdw>
          </a:effectLst>
        </p:spPr>
      </p:sp>
      <p:sp>
        <p:nvSpPr>
          <p:cNvPr id="20" name="numbg-208"/>
          <p:cNvSpPr/>
          <p:nvPr/>
        </p:nvSpPr>
        <p:spPr>
          <a:xfrm>
            <a:off x="6507328" y="43205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num-209"/>
          <p:cNvSpPr txBox="1"/>
          <p:nvPr/>
        </p:nvSpPr>
        <p:spPr>
          <a:xfrm>
            <a:off x="6507328" y="43205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04</a:t>
            </a:r>
            <a:endParaRPr lang="en-US" sz="1600" dirty="0"/>
          </a:p>
        </p:txBody>
      </p:sp>
      <p:sp>
        <p:nvSpPr>
          <p:cNvPr id="22" name="ctitle-210"/>
          <p:cNvSpPr txBox="1"/>
          <p:nvPr/>
        </p:nvSpPr>
        <p:spPr>
          <a:xfrm>
            <a:off x="7193128" y="4320540"/>
            <a:ext cx="4084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Login and dashboard</a:t>
            </a:r>
            <a:endParaRPr lang="en-US" sz="1800" dirty="0"/>
          </a:p>
        </p:txBody>
      </p:sp>
      <p:sp>
        <p:nvSpPr>
          <p:cNvPr id="23" name="cbody-211"/>
          <p:cNvSpPr txBox="1"/>
          <p:nvPr/>
        </p:nvSpPr>
        <p:spPr>
          <a:xfrm>
            <a:off x="6507328" y="5006340"/>
            <a:ext cx="4769968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Input validation and redirect; summary cards, courses and latest enrollments.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IMPLEMENTATION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713232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Implementation and development</a:t>
            </a:r>
            <a:endParaRPr lang="en-US" sz="3200" dirty="0"/>
          </a:p>
        </p:txBody>
      </p:sp>
      <p:sp>
        <p:nvSpPr>
          <p:cNvPr id="4" name="card-212"/>
          <p:cNvSpPr/>
          <p:nvPr/>
        </p:nvSpPr>
        <p:spPr>
          <a:xfrm>
            <a:off x="640080" y="1691640"/>
            <a:ext cx="10911535" cy="740664"/>
          </a:xfrm>
          <a:prstGeom prst="roundRect">
            <a:avLst>
              <a:gd name="adj" fmla="val 987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4E1530">
                <a:alpha val="12000"/>
              </a:srgbClr>
            </a:outerShdw>
          </a:effectLst>
        </p:spPr>
      </p:sp>
      <p:sp>
        <p:nvSpPr>
          <p:cNvPr id="5" name="iconbg-213"/>
          <p:cNvSpPr/>
          <p:nvPr/>
        </p:nvSpPr>
        <p:spPr>
          <a:xfrm>
            <a:off x="914400" y="1810512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con-214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130" y="1936242"/>
            <a:ext cx="251460" cy="251460"/>
          </a:xfrm>
          <a:prstGeom prst="rect">
            <a:avLst/>
          </a:prstGeom>
        </p:spPr>
      </p:pic>
      <p:sp>
        <p:nvSpPr>
          <p:cNvPr id="7" name="text-215"/>
          <p:cNvSpPr txBox="1"/>
          <p:nvPr/>
        </p:nvSpPr>
        <p:spPr>
          <a:xfrm>
            <a:off x="1645920" y="1691640"/>
            <a:ext cx="9631375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Common stylesheet with CSS variables, gradient background, navigation bar, cards and forms.</a:t>
            </a:r>
            <a:endParaRPr lang="en-US" sz="1600" dirty="0"/>
          </a:p>
        </p:txBody>
      </p:sp>
      <p:sp>
        <p:nvSpPr>
          <p:cNvPr id="8" name="card-216"/>
          <p:cNvSpPr/>
          <p:nvPr/>
        </p:nvSpPr>
        <p:spPr>
          <a:xfrm>
            <a:off x="640080" y="2615184"/>
            <a:ext cx="10911535" cy="740664"/>
          </a:xfrm>
          <a:prstGeom prst="roundRect">
            <a:avLst>
              <a:gd name="adj" fmla="val 987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4E1530">
                <a:alpha val="12000"/>
              </a:srgbClr>
            </a:outerShdw>
          </a:effectLst>
        </p:spPr>
      </p:sp>
      <p:sp>
        <p:nvSpPr>
          <p:cNvPr id="9" name="iconbg-217"/>
          <p:cNvSpPr/>
          <p:nvPr/>
        </p:nvSpPr>
        <p:spPr>
          <a:xfrm>
            <a:off x="914400" y="2734056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con-218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130" y="2859786"/>
            <a:ext cx="251460" cy="251460"/>
          </a:xfrm>
          <a:prstGeom prst="rect">
            <a:avLst/>
          </a:prstGeom>
        </p:spPr>
      </p:pic>
      <p:sp>
        <p:nvSpPr>
          <p:cNvPr id="11" name="text-219"/>
          <p:cNvSpPr txBox="1"/>
          <p:nvPr/>
        </p:nvSpPr>
        <p:spPr>
          <a:xfrm>
            <a:off x="1645920" y="2615184"/>
            <a:ext cx="9631375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FastAPI project structure with static files and Jinja2 templates mounted.</a:t>
            </a:r>
            <a:endParaRPr lang="en-US" sz="1600" dirty="0"/>
          </a:p>
        </p:txBody>
      </p:sp>
      <p:sp>
        <p:nvSpPr>
          <p:cNvPr id="12" name="card-220"/>
          <p:cNvSpPr/>
          <p:nvPr/>
        </p:nvSpPr>
        <p:spPr>
          <a:xfrm>
            <a:off x="640080" y="3538728"/>
            <a:ext cx="10911535" cy="740664"/>
          </a:xfrm>
          <a:prstGeom prst="roundRect">
            <a:avLst>
              <a:gd name="adj" fmla="val 987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4E1530">
                <a:alpha val="12000"/>
              </a:srgbClr>
            </a:outerShdw>
          </a:effectLst>
        </p:spPr>
      </p:sp>
      <p:sp>
        <p:nvSpPr>
          <p:cNvPr id="13" name="iconbg-221"/>
          <p:cNvSpPr/>
          <p:nvPr/>
        </p:nvSpPr>
        <p:spPr>
          <a:xfrm>
            <a:off x="914400" y="36576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icon-222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130" y="3783330"/>
            <a:ext cx="251460" cy="251460"/>
          </a:xfrm>
          <a:prstGeom prst="rect">
            <a:avLst/>
          </a:prstGeom>
        </p:spPr>
      </p:pic>
      <p:sp>
        <p:nvSpPr>
          <p:cNvPr id="15" name="text-223"/>
          <p:cNvSpPr txBox="1"/>
          <p:nvPr/>
        </p:nvSpPr>
        <p:spPr>
          <a:xfrm>
            <a:off x="1645920" y="3538728"/>
            <a:ext cx="9631375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init_db creates tables, adds missing columns and loads sample data on first run.</a:t>
            </a:r>
            <a:endParaRPr lang="en-US" sz="1600" dirty="0"/>
          </a:p>
        </p:txBody>
      </p:sp>
      <p:sp>
        <p:nvSpPr>
          <p:cNvPr id="16" name="card-224"/>
          <p:cNvSpPr/>
          <p:nvPr/>
        </p:nvSpPr>
        <p:spPr>
          <a:xfrm>
            <a:off x="640080" y="4462272"/>
            <a:ext cx="10911535" cy="740664"/>
          </a:xfrm>
          <a:prstGeom prst="roundRect">
            <a:avLst>
              <a:gd name="adj" fmla="val 987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4E1530">
                <a:alpha val="12000"/>
              </a:srgbClr>
            </a:outerShdw>
          </a:effectLst>
        </p:spPr>
      </p:sp>
      <p:sp>
        <p:nvSpPr>
          <p:cNvPr id="17" name="iconbg-225"/>
          <p:cNvSpPr/>
          <p:nvPr/>
        </p:nvSpPr>
        <p:spPr>
          <a:xfrm>
            <a:off x="914400" y="4581144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icon-226" descr="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130" y="4706874"/>
            <a:ext cx="251460" cy="251460"/>
          </a:xfrm>
          <a:prstGeom prst="rect">
            <a:avLst/>
          </a:prstGeom>
        </p:spPr>
      </p:pic>
      <p:sp>
        <p:nvSpPr>
          <p:cNvPr id="19" name="text-227"/>
          <p:cNvSpPr txBox="1"/>
          <p:nvPr/>
        </p:nvSpPr>
        <p:spPr>
          <a:xfrm>
            <a:off x="1645920" y="4462272"/>
            <a:ext cx="9631375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fetch_all helper runs parameterised queries using dictionary cursors.</a:t>
            </a:r>
            <a:endParaRPr lang="en-US" sz="1600" dirty="0"/>
          </a:p>
        </p:txBody>
      </p:sp>
      <p:sp>
        <p:nvSpPr>
          <p:cNvPr id="20" name="card-228"/>
          <p:cNvSpPr/>
          <p:nvPr/>
        </p:nvSpPr>
        <p:spPr>
          <a:xfrm>
            <a:off x="640080" y="5385816"/>
            <a:ext cx="10911535" cy="740664"/>
          </a:xfrm>
          <a:prstGeom prst="roundRect">
            <a:avLst>
              <a:gd name="adj" fmla="val 987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4E1530">
                <a:alpha val="12000"/>
              </a:srgbClr>
            </a:outerShdw>
          </a:effectLst>
        </p:spPr>
      </p:sp>
      <p:sp>
        <p:nvSpPr>
          <p:cNvPr id="21" name="iconbg-229"/>
          <p:cNvSpPr/>
          <p:nvPr/>
        </p:nvSpPr>
        <p:spPr>
          <a:xfrm>
            <a:off x="914400" y="5504688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2" name="icon-230" descr="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0130" y="5630418"/>
            <a:ext cx="251460" cy="251460"/>
          </a:xfrm>
          <a:prstGeom prst="rect">
            <a:avLst/>
          </a:prstGeom>
        </p:spPr>
      </p:pic>
      <p:sp>
        <p:nvSpPr>
          <p:cNvPr id="23" name="text-231"/>
          <p:cNvSpPr txBox="1"/>
          <p:nvPr/>
        </p:nvSpPr>
        <p:spPr>
          <a:xfrm>
            <a:off x="1645920" y="5385816"/>
            <a:ext cx="9631375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Routes built for categories, courses, enrollment, login, dashboard and contact.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IMPLEMENTATION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713232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Database setup and tables</a:t>
            </a:r>
            <a:endParaRPr lang="en-US" sz="3200" dirty="0"/>
          </a:p>
        </p:txBody>
      </p:sp>
      <p:sp>
        <p:nvSpPr>
          <p:cNvPr id="4" name="codepanel-232"/>
          <p:cNvSpPr/>
          <p:nvPr/>
        </p:nvSpPr>
        <p:spPr>
          <a:xfrm>
            <a:off x="640080" y="1691640"/>
            <a:ext cx="5989320" cy="4023360"/>
          </a:xfrm>
          <a:prstGeom prst="roundRect">
            <a:avLst>
              <a:gd name="adj" fmla="val 1818"/>
            </a:avLst>
          </a:prstGeom>
          <a:solidFill>
            <a:schemeClr val="tx1"/>
          </a:solidFill>
          <a:ln/>
          <a:effectLst>
            <a:outerShdw sx="100000" sy="100000" kx="0" ky="0" algn="bl" rotWithShape="0" blurRad="101600" dist="25400" dir="5400000">
              <a:srgbClr val="4E1530">
                <a:alpha val="12000"/>
              </a:srgbClr>
            </a:outerShdw>
          </a:effectLst>
        </p:spPr>
      </p:sp>
      <p:sp>
        <p:nvSpPr>
          <p:cNvPr id="5" name="codetitle-233"/>
          <p:cNvSpPr txBox="1"/>
          <p:nvPr/>
        </p:nvSpPr>
        <p:spPr>
          <a:xfrm>
            <a:off x="914400" y="1874520"/>
            <a:ext cx="5440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categories and courses</a:t>
            </a:r>
            <a:endParaRPr lang="en-US" sz="1400" dirty="0"/>
          </a:p>
        </p:txBody>
      </p:sp>
      <p:sp>
        <p:nvSpPr>
          <p:cNvPr id="6" name="code-234"/>
          <p:cNvSpPr txBox="1"/>
          <p:nvPr/>
        </p:nvSpPr>
        <p:spPr>
          <a:xfrm>
            <a:off x="914400" y="2286000"/>
            <a:ext cx="54406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IF NOT EXISTS categories 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 INT AUTO_INCREMENT PRIMARY KEY,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 VARCHAR(100) NOT NULL UNIQUE,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description TEXT, image VARCHAR(100),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 VARCHAR(30)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IF NOT EXISTS courses 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 INT AUTO_INCREMENT PRIMARY KEY,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title VARCHAR(150) NOT NULL,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category_id INT NOT NULL,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instructor VARCHAR(100),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duration VARCHAR(50),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level VARCHAR(50), description TEXT,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seats INT DEFAULT 50,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FOREIGN KEY (category_id)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REFERENCES categories(id)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</p:txBody>
      </p:sp>
      <p:sp>
        <p:nvSpPr>
          <p:cNvPr id="7" name="codepanel-235"/>
          <p:cNvSpPr/>
          <p:nvPr/>
        </p:nvSpPr>
        <p:spPr>
          <a:xfrm>
            <a:off x="6903720" y="1691640"/>
            <a:ext cx="4647895" cy="4023360"/>
          </a:xfrm>
          <a:prstGeom prst="roundRect">
            <a:avLst>
              <a:gd name="adj" fmla="val 1818"/>
            </a:avLst>
          </a:prstGeom>
          <a:solidFill>
            <a:schemeClr val="tx1"/>
          </a:solidFill>
          <a:ln/>
          <a:effectLst>
            <a:outerShdw sx="100000" sy="100000" kx="0" ky="0" algn="bl" rotWithShape="0" blurRad="101600" dist="25400" dir="5400000">
              <a:srgbClr val="4E1530">
                <a:alpha val="12000"/>
              </a:srgbClr>
            </a:outerShdw>
          </a:effectLst>
        </p:spPr>
      </p:sp>
      <p:sp>
        <p:nvSpPr>
          <p:cNvPr id="8" name="codetitle-236"/>
          <p:cNvSpPr txBox="1"/>
          <p:nvPr/>
        </p:nvSpPr>
        <p:spPr>
          <a:xfrm>
            <a:off x="7178040" y="1874520"/>
            <a:ext cx="4099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enrollments</a:t>
            </a:r>
            <a:endParaRPr lang="en-US" sz="1400" dirty="0"/>
          </a:p>
        </p:txBody>
      </p:sp>
      <p:sp>
        <p:nvSpPr>
          <p:cNvPr id="9" name="code-237"/>
          <p:cNvSpPr txBox="1"/>
          <p:nvPr/>
        </p:nvSpPr>
        <p:spPr>
          <a:xfrm>
            <a:off x="7178040" y="2286000"/>
            <a:ext cx="4099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IF NOT EXISTS enrollments 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 INT AUTO_INCREMENT PRIMARY KEY,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student_name VARCHAR(100) NOT NULL,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student_email VARCHAR(100) NOT NULL,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course_name VARCHAR(150) NOT NULL,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category_name VARCHAR(100),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phone VARCHAR(30),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status VARCHAR(30) DEFAULT 'Pending',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created_at TIMESTAMP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DEFAULT CURRENT_TIMESTAMP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</p:txBody>
      </p:sp>
      <p:sp>
        <p:nvSpPr>
          <p:cNvPr id="10" name="note-238"/>
          <p:cNvSpPr txBox="1"/>
          <p:nvPr/>
        </p:nvSpPr>
        <p:spPr>
          <a:xfrm>
            <a:off x="640080" y="585216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One-to-many relationship: one category has many courses (foreign key).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IMPLEMENTATION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713232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Backend code | Filter and enrollment</a:t>
            </a:r>
            <a:endParaRPr lang="en-US" sz="3200" dirty="0"/>
          </a:p>
        </p:txBody>
      </p:sp>
      <p:sp>
        <p:nvSpPr>
          <p:cNvPr id="4" name="codepanel-239"/>
          <p:cNvSpPr/>
          <p:nvPr/>
        </p:nvSpPr>
        <p:spPr>
          <a:xfrm>
            <a:off x="640080" y="1691640"/>
            <a:ext cx="5669280" cy="4023360"/>
          </a:xfrm>
          <a:prstGeom prst="roundRect">
            <a:avLst>
              <a:gd name="adj" fmla="val 1818"/>
            </a:avLst>
          </a:prstGeom>
          <a:solidFill>
            <a:schemeClr val="tx1"/>
          </a:solidFill>
          <a:ln/>
          <a:effectLst>
            <a:outerShdw sx="100000" sy="100000" kx="0" ky="0" algn="bl" rotWithShape="0" blurRad="101600" dist="25400" dir="5400000">
              <a:srgbClr val="4E1530">
                <a:alpha val="12000"/>
              </a:srgbClr>
            </a:outerShdw>
          </a:effectLst>
        </p:spPr>
      </p:sp>
      <p:sp>
        <p:nvSpPr>
          <p:cNvPr id="5" name="codetitle-240"/>
          <p:cNvSpPr txBox="1"/>
          <p:nvPr/>
        </p:nvSpPr>
        <p:spPr>
          <a:xfrm>
            <a:off x="914400" y="18745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Course catalog with category filter</a:t>
            </a:r>
            <a:endParaRPr lang="en-US" sz="1400" dirty="0"/>
          </a:p>
        </p:txBody>
      </p:sp>
      <p:sp>
        <p:nvSpPr>
          <p:cNvPr id="6" name="code-241"/>
          <p:cNvSpPr txBox="1"/>
          <p:nvPr/>
        </p:nvSpPr>
        <p:spPr>
          <a:xfrm>
            <a:off x="914400" y="2286000"/>
            <a:ext cx="5120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 = """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c.*, cat.name AS category_name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courses c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JOIN categories cat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ON c.category_id = cat.id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params = 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selected_category: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query += " WHERE cat.name = %s"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params = (selected_category,)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 += " ORDER BY c.id"</a:t>
            </a:r>
            <a:endParaRPr lang="en-US" sz="1200" dirty="0"/>
          </a:p>
        </p:txBody>
      </p:sp>
      <p:sp>
        <p:nvSpPr>
          <p:cNvPr id="7" name="codepanel-242"/>
          <p:cNvSpPr/>
          <p:nvPr/>
        </p:nvSpPr>
        <p:spPr>
          <a:xfrm>
            <a:off x="6583680" y="1691640"/>
            <a:ext cx="4967935" cy="4023360"/>
          </a:xfrm>
          <a:prstGeom prst="roundRect">
            <a:avLst>
              <a:gd name="adj" fmla="val 1818"/>
            </a:avLst>
          </a:prstGeom>
          <a:solidFill>
            <a:schemeClr val="tx1"/>
          </a:solidFill>
          <a:ln/>
          <a:effectLst>
            <a:outerShdw sx="100000" sy="100000" kx="0" ky="0" algn="bl" rotWithShape="0" blurRad="101600" dist="25400" dir="5400000">
              <a:srgbClr val="4E1530">
                <a:alpha val="12000"/>
              </a:srgbClr>
            </a:outerShdw>
          </a:effectLst>
        </p:spPr>
      </p:sp>
      <p:sp>
        <p:nvSpPr>
          <p:cNvPr id="8" name="codetitle-243"/>
          <p:cNvSpPr txBox="1"/>
          <p:nvPr/>
        </p:nvSpPr>
        <p:spPr>
          <a:xfrm>
            <a:off x="6858000" y="1874520"/>
            <a:ext cx="4419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Enrollment insert</a:t>
            </a:r>
            <a:endParaRPr lang="en-US" sz="1400" dirty="0"/>
          </a:p>
        </p:txBody>
      </p:sp>
      <p:sp>
        <p:nvSpPr>
          <p:cNvPr id="9" name="code-244"/>
          <p:cNvSpPr txBox="1"/>
          <p:nvPr/>
        </p:nvSpPr>
        <p:spPr>
          <a:xfrm>
            <a:off x="6858000" y="2286000"/>
            <a:ext cx="441929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cursor.execute("""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INSERT INTO enrollments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(student_name, student_email,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course_name, category_name,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phone)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VALUES (%s, %s, %s, %s, %s)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""", (student_name, student_email,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course_name, category_name,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phone))</a:t>
            </a:r>
            <a:endParaRPr lang="en-US" sz="1200" dirty="0"/>
          </a:p>
        </p:txBody>
      </p:sp>
      <p:sp>
        <p:nvSpPr>
          <p:cNvPr id="10" name="note-245"/>
          <p:cNvSpPr txBox="1"/>
          <p:nvPr/>
        </p:nvSpPr>
        <p:spPr>
          <a:xfrm>
            <a:off x="640080" y="585216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Values are passed as parameters, which protects against SQL injection.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IMPLEMENTATION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713232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Algorithms | Core workflows</a:t>
            </a:r>
            <a:endParaRPr lang="en-US" sz="3200" dirty="0"/>
          </a:p>
        </p:txBody>
      </p:sp>
      <p:sp>
        <p:nvSpPr>
          <p:cNvPr id="4" name="card-246"/>
          <p:cNvSpPr/>
          <p:nvPr/>
        </p:nvSpPr>
        <p:spPr>
          <a:xfrm>
            <a:off x="640080" y="1691640"/>
            <a:ext cx="5318608" cy="2080260"/>
          </a:xfrm>
          <a:prstGeom prst="roundRect">
            <a:avLst>
              <a:gd name="adj" fmla="val 351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4E1530">
                <a:alpha val="12000"/>
              </a:srgbClr>
            </a:outerShdw>
          </a:effectLst>
        </p:spPr>
      </p:sp>
      <p:sp>
        <p:nvSpPr>
          <p:cNvPr id="5" name="iconbg-247"/>
          <p:cNvSpPr/>
          <p:nvPr/>
        </p:nvSpPr>
        <p:spPr>
          <a:xfrm>
            <a:off x="914400" y="19659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con-248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130" y="2091690"/>
            <a:ext cx="251460" cy="251460"/>
          </a:xfrm>
          <a:prstGeom prst="rect">
            <a:avLst/>
          </a:prstGeom>
        </p:spPr>
      </p:pic>
      <p:sp>
        <p:nvSpPr>
          <p:cNvPr id="7" name="ctitle-249"/>
          <p:cNvSpPr txBox="1"/>
          <p:nvPr/>
        </p:nvSpPr>
        <p:spPr>
          <a:xfrm>
            <a:off x="1600200" y="1965960"/>
            <a:ext cx="4084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Enrollment</a:t>
            </a:r>
            <a:endParaRPr lang="en-US" sz="1800" dirty="0"/>
          </a:p>
        </p:txBody>
      </p:sp>
      <p:sp>
        <p:nvSpPr>
          <p:cNvPr id="8" name="cbody-250"/>
          <p:cNvSpPr txBox="1"/>
          <p:nvPr/>
        </p:nvSpPr>
        <p:spPr>
          <a:xfrm>
            <a:off x="914400" y="2651760"/>
            <a:ext cx="4769968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Load dropdowns → enter details → browser checks fields → POST → insert row → show success or error.</a:t>
            </a:r>
            <a:endParaRPr lang="en-US" sz="1600" dirty="0"/>
          </a:p>
        </p:txBody>
      </p:sp>
      <p:sp>
        <p:nvSpPr>
          <p:cNvPr id="9" name="card-251"/>
          <p:cNvSpPr/>
          <p:nvPr/>
        </p:nvSpPr>
        <p:spPr>
          <a:xfrm>
            <a:off x="6233008" y="1691640"/>
            <a:ext cx="5318608" cy="2080260"/>
          </a:xfrm>
          <a:prstGeom prst="roundRect">
            <a:avLst>
              <a:gd name="adj" fmla="val 351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4E1530">
                <a:alpha val="12000"/>
              </a:srgbClr>
            </a:outerShdw>
          </a:effectLst>
        </p:spPr>
      </p:sp>
      <p:sp>
        <p:nvSpPr>
          <p:cNvPr id="10" name="iconbg-252"/>
          <p:cNvSpPr/>
          <p:nvPr/>
        </p:nvSpPr>
        <p:spPr>
          <a:xfrm>
            <a:off x="6507328" y="19659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-253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3058" y="2091690"/>
            <a:ext cx="251460" cy="251460"/>
          </a:xfrm>
          <a:prstGeom prst="rect">
            <a:avLst/>
          </a:prstGeom>
        </p:spPr>
      </p:pic>
      <p:sp>
        <p:nvSpPr>
          <p:cNvPr id="12" name="ctitle-254"/>
          <p:cNvSpPr txBox="1"/>
          <p:nvPr/>
        </p:nvSpPr>
        <p:spPr>
          <a:xfrm>
            <a:off x="7193128" y="1965960"/>
            <a:ext cx="4084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Course filter</a:t>
            </a:r>
            <a:endParaRPr lang="en-US" sz="1800" dirty="0"/>
          </a:p>
        </p:txBody>
      </p:sp>
      <p:sp>
        <p:nvSpPr>
          <p:cNvPr id="13" name="cbody-255"/>
          <p:cNvSpPr txBox="1"/>
          <p:nvPr/>
        </p:nvSpPr>
        <p:spPr>
          <a:xfrm>
            <a:off x="6507328" y="2651760"/>
            <a:ext cx="4769968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Read category from query string → JOIN courses and categories → add WHERE if selected → render list.</a:t>
            </a:r>
            <a:endParaRPr lang="en-US" sz="1600" dirty="0"/>
          </a:p>
        </p:txBody>
      </p:sp>
      <p:sp>
        <p:nvSpPr>
          <p:cNvPr id="14" name="card-256"/>
          <p:cNvSpPr/>
          <p:nvPr/>
        </p:nvSpPr>
        <p:spPr>
          <a:xfrm>
            <a:off x="640080" y="4046220"/>
            <a:ext cx="5318608" cy="2080260"/>
          </a:xfrm>
          <a:prstGeom prst="roundRect">
            <a:avLst>
              <a:gd name="adj" fmla="val 351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4E1530">
                <a:alpha val="12000"/>
              </a:srgbClr>
            </a:outerShdw>
          </a:effectLst>
        </p:spPr>
      </p:sp>
      <p:sp>
        <p:nvSpPr>
          <p:cNvPr id="15" name="iconbg-257"/>
          <p:cNvSpPr/>
          <p:nvPr/>
        </p:nvSpPr>
        <p:spPr>
          <a:xfrm>
            <a:off x="914400" y="43205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con-258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130" y="4446270"/>
            <a:ext cx="251460" cy="251460"/>
          </a:xfrm>
          <a:prstGeom prst="rect">
            <a:avLst/>
          </a:prstGeom>
        </p:spPr>
      </p:pic>
      <p:sp>
        <p:nvSpPr>
          <p:cNvPr id="17" name="ctitle-259"/>
          <p:cNvSpPr txBox="1"/>
          <p:nvPr/>
        </p:nvSpPr>
        <p:spPr>
          <a:xfrm>
            <a:off x="1600200" y="4320540"/>
            <a:ext cx="4084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User login</a:t>
            </a:r>
            <a:endParaRPr lang="en-US" sz="1800" dirty="0"/>
          </a:p>
        </p:txBody>
      </p:sp>
      <p:sp>
        <p:nvSpPr>
          <p:cNvPr id="18" name="cbody-260"/>
          <p:cNvSpPr txBox="1"/>
          <p:nvPr/>
        </p:nvSpPr>
        <p:spPr>
          <a:xfrm>
            <a:off x="914400" y="5006340"/>
            <a:ext cx="4769968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Read and trim input → reject empty fields or password under 4 characters → HTTP 303 redirect to dashboard.</a:t>
            </a:r>
            <a:endParaRPr lang="en-US" sz="1600" dirty="0"/>
          </a:p>
        </p:txBody>
      </p:sp>
      <p:sp>
        <p:nvSpPr>
          <p:cNvPr id="19" name="card-261"/>
          <p:cNvSpPr/>
          <p:nvPr/>
        </p:nvSpPr>
        <p:spPr>
          <a:xfrm>
            <a:off x="6233008" y="4046220"/>
            <a:ext cx="5318608" cy="2080260"/>
          </a:xfrm>
          <a:prstGeom prst="roundRect">
            <a:avLst>
              <a:gd name="adj" fmla="val 351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4E1530">
                <a:alpha val="12000"/>
              </a:srgbClr>
            </a:outerShdw>
          </a:effectLst>
        </p:spPr>
      </p:sp>
      <p:sp>
        <p:nvSpPr>
          <p:cNvPr id="20" name="iconbg-262"/>
          <p:cNvSpPr/>
          <p:nvPr/>
        </p:nvSpPr>
        <p:spPr>
          <a:xfrm>
            <a:off x="6507328" y="43205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icon-263" descr="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3058" y="4446270"/>
            <a:ext cx="251460" cy="251460"/>
          </a:xfrm>
          <a:prstGeom prst="rect">
            <a:avLst/>
          </a:prstGeom>
        </p:spPr>
      </p:pic>
      <p:sp>
        <p:nvSpPr>
          <p:cNvPr id="22" name="ctitle-264"/>
          <p:cNvSpPr txBox="1"/>
          <p:nvPr/>
        </p:nvSpPr>
        <p:spPr>
          <a:xfrm>
            <a:off x="7193128" y="4320540"/>
            <a:ext cx="4084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Initialisation and dashboard</a:t>
            </a:r>
            <a:endParaRPr lang="en-US" sz="1800" dirty="0"/>
          </a:p>
        </p:txBody>
      </p:sp>
      <p:sp>
        <p:nvSpPr>
          <p:cNvPr id="23" name="cbody-265"/>
          <p:cNvSpPr txBox="1"/>
          <p:nvPr/>
        </p:nvSpPr>
        <p:spPr>
          <a:xfrm>
            <a:off x="6507328" y="5006340"/>
            <a:ext cx="4769968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Create tables, add missing columns, seed empty tables. Dashboard counts records and reads the latest eight enrollments.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TESTING AND RESULTS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713232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Testing parameters</a:t>
            </a:r>
            <a:endParaRPr lang="en-US" sz="3200" dirty="0"/>
          </a:p>
        </p:txBody>
      </p:sp>
      <p:sp>
        <p:nvSpPr>
          <p:cNvPr id="4" name="card-266"/>
          <p:cNvSpPr/>
          <p:nvPr/>
        </p:nvSpPr>
        <p:spPr>
          <a:xfrm>
            <a:off x="640080" y="1691640"/>
            <a:ext cx="10911535" cy="740664"/>
          </a:xfrm>
          <a:prstGeom prst="roundRect">
            <a:avLst>
              <a:gd name="adj" fmla="val 987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4E1530">
                <a:alpha val="12000"/>
              </a:srgbClr>
            </a:outerShdw>
          </a:effectLst>
        </p:spPr>
      </p:sp>
      <p:sp>
        <p:nvSpPr>
          <p:cNvPr id="5" name="iconbg-267"/>
          <p:cNvSpPr/>
          <p:nvPr/>
        </p:nvSpPr>
        <p:spPr>
          <a:xfrm>
            <a:off x="914400" y="1810512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con-268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130" y="1936242"/>
            <a:ext cx="251460" cy="251460"/>
          </a:xfrm>
          <a:prstGeom prst="rect">
            <a:avLst/>
          </a:prstGeom>
        </p:spPr>
      </p:pic>
      <p:sp>
        <p:nvSpPr>
          <p:cNvPr id="7" name="text-269"/>
          <p:cNvSpPr txBox="1"/>
          <p:nvPr/>
        </p:nvSpPr>
        <p:spPr>
          <a:xfrm>
            <a:off x="1645920" y="1691640"/>
            <a:ext cx="9631375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Browse categories and filter the course catalog by category.</a:t>
            </a:r>
            <a:endParaRPr lang="en-US" sz="1600" dirty="0"/>
          </a:p>
        </p:txBody>
      </p:sp>
      <p:sp>
        <p:nvSpPr>
          <p:cNvPr id="8" name="card-270"/>
          <p:cNvSpPr/>
          <p:nvPr/>
        </p:nvSpPr>
        <p:spPr>
          <a:xfrm>
            <a:off x="640080" y="2615184"/>
            <a:ext cx="10911535" cy="740664"/>
          </a:xfrm>
          <a:prstGeom prst="roundRect">
            <a:avLst>
              <a:gd name="adj" fmla="val 987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4E1530">
                <a:alpha val="12000"/>
              </a:srgbClr>
            </a:outerShdw>
          </a:effectLst>
        </p:spPr>
      </p:sp>
      <p:sp>
        <p:nvSpPr>
          <p:cNvPr id="9" name="iconbg-271"/>
          <p:cNvSpPr/>
          <p:nvPr/>
        </p:nvSpPr>
        <p:spPr>
          <a:xfrm>
            <a:off x="914400" y="2734056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con-272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130" y="2859786"/>
            <a:ext cx="251460" cy="251460"/>
          </a:xfrm>
          <a:prstGeom prst="rect">
            <a:avLst/>
          </a:prstGeom>
        </p:spPr>
      </p:pic>
      <p:sp>
        <p:nvSpPr>
          <p:cNvPr id="11" name="text-273"/>
          <p:cNvSpPr txBox="1"/>
          <p:nvPr/>
        </p:nvSpPr>
        <p:spPr>
          <a:xfrm>
            <a:off x="1645920" y="2615184"/>
            <a:ext cx="9631375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Submit enrollments and confirm records are stored in MySQL.</a:t>
            </a:r>
            <a:endParaRPr lang="en-US" sz="1600" dirty="0"/>
          </a:p>
        </p:txBody>
      </p:sp>
      <p:sp>
        <p:nvSpPr>
          <p:cNvPr id="12" name="card-274"/>
          <p:cNvSpPr/>
          <p:nvPr/>
        </p:nvSpPr>
        <p:spPr>
          <a:xfrm>
            <a:off x="640080" y="3538728"/>
            <a:ext cx="10911535" cy="740664"/>
          </a:xfrm>
          <a:prstGeom prst="roundRect">
            <a:avLst>
              <a:gd name="adj" fmla="val 987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4E1530">
                <a:alpha val="12000"/>
              </a:srgbClr>
            </a:outerShdw>
          </a:effectLst>
        </p:spPr>
      </p:sp>
      <p:sp>
        <p:nvSpPr>
          <p:cNvPr id="13" name="iconbg-275"/>
          <p:cNvSpPr/>
          <p:nvPr/>
        </p:nvSpPr>
        <p:spPr>
          <a:xfrm>
            <a:off x="914400" y="36576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icon-276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130" y="3783330"/>
            <a:ext cx="251460" cy="251460"/>
          </a:xfrm>
          <a:prstGeom prst="rect">
            <a:avLst/>
          </a:prstGeom>
        </p:spPr>
      </p:pic>
      <p:sp>
        <p:nvSpPr>
          <p:cNvPr id="15" name="text-277"/>
          <p:cNvSpPr txBox="1"/>
          <p:nvPr/>
        </p:nvSpPr>
        <p:spPr>
          <a:xfrm>
            <a:off x="1645920" y="3538728"/>
            <a:ext cx="9631375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Validate empty fields, invalid email format and short passwords.</a:t>
            </a:r>
            <a:endParaRPr lang="en-US" sz="1600" dirty="0"/>
          </a:p>
        </p:txBody>
      </p:sp>
      <p:sp>
        <p:nvSpPr>
          <p:cNvPr id="16" name="card-278"/>
          <p:cNvSpPr/>
          <p:nvPr/>
        </p:nvSpPr>
        <p:spPr>
          <a:xfrm>
            <a:off x="640080" y="4462272"/>
            <a:ext cx="10911535" cy="740664"/>
          </a:xfrm>
          <a:prstGeom prst="roundRect">
            <a:avLst>
              <a:gd name="adj" fmla="val 987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4E1530">
                <a:alpha val="12000"/>
              </a:srgbClr>
            </a:outerShdw>
          </a:effectLst>
        </p:spPr>
      </p:sp>
      <p:sp>
        <p:nvSpPr>
          <p:cNvPr id="17" name="iconbg-279"/>
          <p:cNvSpPr/>
          <p:nvPr/>
        </p:nvSpPr>
        <p:spPr>
          <a:xfrm>
            <a:off x="914400" y="4581144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icon-280" descr="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130" y="4706874"/>
            <a:ext cx="251460" cy="251460"/>
          </a:xfrm>
          <a:prstGeom prst="rect">
            <a:avLst/>
          </a:prstGeom>
        </p:spPr>
      </p:pic>
      <p:sp>
        <p:nvSpPr>
          <p:cNvPr id="19" name="text-281"/>
          <p:cNvSpPr txBox="1"/>
          <p:nvPr/>
        </p:nvSpPr>
        <p:spPr>
          <a:xfrm>
            <a:off x="1645920" y="4462272"/>
            <a:ext cx="9631375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Check login redirect, dashboard figures and automatic database initialisation.</a:t>
            </a:r>
            <a:endParaRPr lang="en-US" sz="1600" dirty="0"/>
          </a:p>
        </p:txBody>
      </p:sp>
      <p:sp>
        <p:nvSpPr>
          <p:cNvPr id="20" name="card-282"/>
          <p:cNvSpPr/>
          <p:nvPr/>
        </p:nvSpPr>
        <p:spPr>
          <a:xfrm>
            <a:off x="640080" y="5385816"/>
            <a:ext cx="10911535" cy="740664"/>
          </a:xfrm>
          <a:prstGeom prst="roundRect">
            <a:avLst>
              <a:gd name="adj" fmla="val 987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4E1530">
                <a:alpha val="12000"/>
              </a:srgbClr>
            </a:outerShdw>
          </a:effectLst>
        </p:spPr>
      </p:sp>
      <p:sp>
        <p:nvSpPr>
          <p:cNvPr id="21" name="iconbg-283"/>
          <p:cNvSpPr/>
          <p:nvPr/>
        </p:nvSpPr>
        <p:spPr>
          <a:xfrm>
            <a:off x="914400" y="5504688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2" name="icon-284" descr="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0130" y="5630418"/>
            <a:ext cx="251460" cy="251460"/>
          </a:xfrm>
          <a:prstGeom prst="rect">
            <a:avLst/>
          </a:prstGeom>
        </p:spPr>
      </p:pic>
      <p:sp>
        <p:nvSpPr>
          <p:cNvPr id="23" name="text-285"/>
          <p:cNvSpPr txBox="1"/>
          <p:nvPr/>
        </p:nvSpPr>
        <p:spPr>
          <a:xfrm>
            <a:off x="1645920" y="5385816"/>
            <a:ext cx="9631375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Test behaviour when the database is not running; check layout on smaller screens.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TESTING AND RESULTS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713232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Result analysis</a:t>
            </a:r>
            <a:endParaRPr lang="en-US" sz="3200" dirty="0"/>
          </a:p>
        </p:txBody>
      </p:sp>
      <p:sp>
        <p:nvSpPr>
          <p:cNvPr id="4" name="card-286"/>
          <p:cNvSpPr/>
          <p:nvPr/>
        </p:nvSpPr>
        <p:spPr>
          <a:xfrm>
            <a:off x="640080" y="1691640"/>
            <a:ext cx="3454298" cy="2080260"/>
          </a:xfrm>
          <a:prstGeom prst="roundRect">
            <a:avLst>
              <a:gd name="adj" fmla="val 351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4E1530">
                <a:alpha val="12000"/>
              </a:srgbClr>
            </a:outerShdw>
          </a:effectLst>
        </p:spPr>
      </p:sp>
      <p:sp>
        <p:nvSpPr>
          <p:cNvPr id="5" name="iconbg-287"/>
          <p:cNvSpPr/>
          <p:nvPr/>
        </p:nvSpPr>
        <p:spPr>
          <a:xfrm>
            <a:off x="914400" y="19659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con-288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130" y="2091690"/>
            <a:ext cx="251460" cy="251460"/>
          </a:xfrm>
          <a:prstGeom prst="rect">
            <a:avLst/>
          </a:prstGeom>
        </p:spPr>
      </p:pic>
      <p:sp>
        <p:nvSpPr>
          <p:cNvPr id="7" name="cbody-289"/>
          <p:cNvSpPr txBox="1"/>
          <p:nvPr/>
        </p:nvSpPr>
        <p:spPr>
          <a:xfrm>
            <a:off x="914400" y="2651760"/>
            <a:ext cx="2905658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All modules behaved as expected under normal and edge-case inputs.</a:t>
            </a:r>
            <a:endParaRPr lang="en-US" sz="1600" dirty="0"/>
          </a:p>
        </p:txBody>
      </p:sp>
      <p:sp>
        <p:nvSpPr>
          <p:cNvPr id="8" name="card-290"/>
          <p:cNvSpPr/>
          <p:nvPr/>
        </p:nvSpPr>
        <p:spPr>
          <a:xfrm>
            <a:off x="4368698" y="1691640"/>
            <a:ext cx="3454298" cy="2080260"/>
          </a:xfrm>
          <a:prstGeom prst="roundRect">
            <a:avLst>
              <a:gd name="adj" fmla="val 351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4E1530">
                <a:alpha val="12000"/>
              </a:srgbClr>
            </a:outerShdw>
          </a:effectLst>
        </p:spPr>
      </p:sp>
      <p:sp>
        <p:nvSpPr>
          <p:cNvPr id="9" name="iconbg-291"/>
          <p:cNvSpPr/>
          <p:nvPr/>
        </p:nvSpPr>
        <p:spPr>
          <a:xfrm>
            <a:off x="4643018" y="19659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con-292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8748" y="2091690"/>
            <a:ext cx="251460" cy="251460"/>
          </a:xfrm>
          <a:prstGeom prst="rect">
            <a:avLst/>
          </a:prstGeom>
        </p:spPr>
      </p:pic>
      <p:sp>
        <p:nvSpPr>
          <p:cNvPr id="11" name="cbody-293"/>
          <p:cNvSpPr txBox="1"/>
          <p:nvPr/>
        </p:nvSpPr>
        <p:spPr>
          <a:xfrm>
            <a:off x="4643018" y="2651760"/>
            <a:ext cx="2905658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Pages loaded quickly because queries are simple and sample data is small.</a:t>
            </a:r>
            <a:endParaRPr lang="en-US" sz="1600" dirty="0"/>
          </a:p>
        </p:txBody>
      </p:sp>
      <p:sp>
        <p:nvSpPr>
          <p:cNvPr id="12" name="card-294"/>
          <p:cNvSpPr/>
          <p:nvPr/>
        </p:nvSpPr>
        <p:spPr>
          <a:xfrm>
            <a:off x="8097317" y="1691640"/>
            <a:ext cx="3454298" cy="2080260"/>
          </a:xfrm>
          <a:prstGeom prst="roundRect">
            <a:avLst>
              <a:gd name="adj" fmla="val 351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4E1530">
                <a:alpha val="12000"/>
              </a:srgbClr>
            </a:outerShdw>
          </a:effectLst>
        </p:spPr>
      </p:sp>
      <p:sp>
        <p:nvSpPr>
          <p:cNvPr id="13" name="iconbg-295"/>
          <p:cNvSpPr/>
          <p:nvPr/>
        </p:nvSpPr>
        <p:spPr>
          <a:xfrm>
            <a:off x="8371637" y="19659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icon-296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7367" y="2091690"/>
            <a:ext cx="251460" cy="251460"/>
          </a:xfrm>
          <a:prstGeom prst="rect">
            <a:avLst/>
          </a:prstGeom>
        </p:spPr>
      </p:pic>
      <p:sp>
        <p:nvSpPr>
          <p:cNvPr id="15" name="cbody-297"/>
          <p:cNvSpPr txBox="1"/>
          <p:nvPr/>
        </p:nvSpPr>
        <p:spPr>
          <a:xfrm>
            <a:off x="8371637" y="2651760"/>
            <a:ext cx="2905658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card-based interface adapted well to different screen sizes.</a:t>
            </a:r>
            <a:endParaRPr lang="en-US" sz="1600" dirty="0"/>
          </a:p>
        </p:txBody>
      </p:sp>
      <p:sp>
        <p:nvSpPr>
          <p:cNvPr id="16" name="card-298"/>
          <p:cNvSpPr/>
          <p:nvPr/>
        </p:nvSpPr>
        <p:spPr>
          <a:xfrm>
            <a:off x="640080" y="4046220"/>
            <a:ext cx="5318608" cy="2080260"/>
          </a:xfrm>
          <a:prstGeom prst="roundRect">
            <a:avLst>
              <a:gd name="adj" fmla="val 351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4E1530">
                <a:alpha val="12000"/>
              </a:srgbClr>
            </a:outerShdw>
          </a:effectLst>
        </p:spPr>
      </p:sp>
      <p:sp>
        <p:nvSpPr>
          <p:cNvPr id="17" name="iconbg-299"/>
          <p:cNvSpPr/>
          <p:nvPr/>
        </p:nvSpPr>
        <p:spPr>
          <a:xfrm>
            <a:off x="914400" y="43205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icon-300" descr="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130" y="4446270"/>
            <a:ext cx="251460" cy="251460"/>
          </a:xfrm>
          <a:prstGeom prst="rect">
            <a:avLst/>
          </a:prstGeom>
        </p:spPr>
      </p:pic>
      <p:sp>
        <p:nvSpPr>
          <p:cNvPr id="19" name="cbody-301"/>
          <p:cNvSpPr txBox="1"/>
          <p:nvPr/>
        </p:nvSpPr>
        <p:spPr>
          <a:xfrm>
            <a:off x="914400" y="5006340"/>
            <a:ext cx="4769968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Course information is in one place and enrollment takes a single form.</a:t>
            </a:r>
            <a:endParaRPr lang="en-US" sz="1600" dirty="0"/>
          </a:p>
        </p:txBody>
      </p:sp>
      <p:sp>
        <p:nvSpPr>
          <p:cNvPr id="20" name="card-302"/>
          <p:cNvSpPr/>
          <p:nvPr/>
        </p:nvSpPr>
        <p:spPr>
          <a:xfrm>
            <a:off x="6233008" y="4046220"/>
            <a:ext cx="5318608" cy="2080260"/>
          </a:xfrm>
          <a:prstGeom prst="roundRect">
            <a:avLst>
              <a:gd name="adj" fmla="val 351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4E1530">
                <a:alpha val="12000"/>
              </a:srgbClr>
            </a:outerShdw>
          </a:effectLst>
        </p:spPr>
      </p:sp>
      <p:sp>
        <p:nvSpPr>
          <p:cNvPr id="21" name="iconbg-303"/>
          <p:cNvSpPr/>
          <p:nvPr/>
        </p:nvSpPr>
        <p:spPr>
          <a:xfrm>
            <a:off x="6507328" y="43205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2" name="icon-304" descr="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3058" y="4446270"/>
            <a:ext cx="251460" cy="251460"/>
          </a:xfrm>
          <a:prstGeom prst="rect">
            <a:avLst/>
          </a:prstGeom>
        </p:spPr>
      </p:pic>
      <p:sp>
        <p:nvSpPr>
          <p:cNvPr id="23" name="cbody-305"/>
          <p:cNvSpPr txBox="1"/>
          <p:nvPr/>
        </p:nvSpPr>
        <p:spPr>
          <a:xfrm>
            <a:off x="6507328" y="5006340"/>
            <a:ext cx="4769968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Staff see the latest enrollments immediately on the dashboard; no numeric benchmarks were reported.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TESTING AND RESULTS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713232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Output screenshots | 1</a:t>
            </a:r>
            <a:endParaRPr lang="en-US" sz="3200" dirty="0"/>
          </a:p>
        </p:txBody>
      </p:sp>
      <p:sp>
        <p:nvSpPr>
          <p:cNvPr id="4" name="card-306"/>
          <p:cNvSpPr/>
          <p:nvPr/>
        </p:nvSpPr>
        <p:spPr>
          <a:xfrm>
            <a:off x="640080" y="1920240"/>
            <a:ext cx="5318608" cy="3931920"/>
          </a:xfrm>
          <a:prstGeom prst="roundRect">
            <a:avLst>
              <a:gd name="adj" fmla="val 186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4E1530">
                <a:alpha val="12000"/>
              </a:srgbClr>
            </a:outerShdw>
          </a:effectLst>
        </p:spPr>
      </p:sp>
      <p:pic>
        <p:nvPicPr>
          <p:cNvPr id="5" name="shot-307" descr="Project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219860"/>
            <a:ext cx="4952848" cy="2784040"/>
          </a:xfrm>
          <a:prstGeom prst="rect">
            <a:avLst/>
          </a:prstGeom>
        </p:spPr>
      </p:pic>
      <p:sp>
        <p:nvSpPr>
          <p:cNvPr id="6" name="shot-caption-308"/>
          <p:cNvSpPr txBox="1"/>
          <p:nvPr/>
        </p:nvSpPr>
        <p:spPr>
          <a:xfrm>
            <a:off x="914400" y="5212080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Home page</a:t>
            </a:r>
            <a:endParaRPr lang="en-US" sz="1600" dirty="0"/>
          </a:p>
        </p:txBody>
      </p:sp>
      <p:sp>
        <p:nvSpPr>
          <p:cNvPr id="7" name="card-309"/>
          <p:cNvSpPr/>
          <p:nvPr/>
        </p:nvSpPr>
        <p:spPr>
          <a:xfrm>
            <a:off x="6233008" y="1920240"/>
            <a:ext cx="5318608" cy="3931920"/>
          </a:xfrm>
          <a:prstGeom prst="roundRect">
            <a:avLst>
              <a:gd name="adj" fmla="val 186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4E1530">
                <a:alpha val="12000"/>
              </a:srgbClr>
            </a:outerShdw>
          </a:effectLst>
        </p:spPr>
      </p:sp>
      <p:pic>
        <p:nvPicPr>
          <p:cNvPr id="8" name="shot-310" descr="Project screensho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5888" y="2429343"/>
            <a:ext cx="4952848" cy="2365074"/>
          </a:xfrm>
          <a:prstGeom prst="rect">
            <a:avLst/>
          </a:prstGeom>
        </p:spPr>
      </p:pic>
      <p:sp>
        <p:nvSpPr>
          <p:cNvPr id="9" name="shot-caption-311"/>
          <p:cNvSpPr txBox="1"/>
          <p:nvPr/>
        </p:nvSpPr>
        <p:spPr>
          <a:xfrm>
            <a:off x="6507328" y="5212080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Login page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TESTING AND RESULTS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713232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Output screenshots | 2</a:t>
            </a:r>
            <a:endParaRPr lang="en-US" sz="3200" dirty="0"/>
          </a:p>
        </p:txBody>
      </p:sp>
      <p:sp>
        <p:nvSpPr>
          <p:cNvPr id="4" name="card-312"/>
          <p:cNvSpPr/>
          <p:nvPr/>
        </p:nvSpPr>
        <p:spPr>
          <a:xfrm>
            <a:off x="640080" y="1920240"/>
            <a:ext cx="5318608" cy="3931920"/>
          </a:xfrm>
          <a:prstGeom prst="roundRect">
            <a:avLst>
              <a:gd name="adj" fmla="val 186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4E1530">
                <a:alpha val="12000"/>
              </a:srgbClr>
            </a:outerShdw>
          </a:effectLst>
        </p:spPr>
      </p:sp>
      <p:pic>
        <p:nvPicPr>
          <p:cNvPr id="5" name="shot-313" descr="Project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436249"/>
            <a:ext cx="4952848" cy="2351262"/>
          </a:xfrm>
          <a:prstGeom prst="rect">
            <a:avLst/>
          </a:prstGeom>
        </p:spPr>
      </p:pic>
      <p:sp>
        <p:nvSpPr>
          <p:cNvPr id="6" name="shot-caption-314"/>
          <p:cNvSpPr txBox="1"/>
          <p:nvPr/>
        </p:nvSpPr>
        <p:spPr>
          <a:xfrm>
            <a:off x="914400" y="5212080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Learning categories</a:t>
            </a:r>
            <a:endParaRPr lang="en-US" sz="1600" dirty="0"/>
          </a:p>
        </p:txBody>
      </p:sp>
      <p:sp>
        <p:nvSpPr>
          <p:cNvPr id="7" name="card-315"/>
          <p:cNvSpPr/>
          <p:nvPr/>
        </p:nvSpPr>
        <p:spPr>
          <a:xfrm>
            <a:off x="6233008" y="1920240"/>
            <a:ext cx="5318608" cy="3931920"/>
          </a:xfrm>
          <a:prstGeom prst="roundRect">
            <a:avLst>
              <a:gd name="adj" fmla="val 186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4E1530">
                <a:alpha val="12000"/>
              </a:srgbClr>
            </a:outerShdw>
          </a:effectLst>
        </p:spPr>
      </p:sp>
      <p:pic>
        <p:nvPicPr>
          <p:cNvPr id="8" name="shot-316" descr="Project screensho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5888" y="2416290"/>
            <a:ext cx="4952848" cy="2391181"/>
          </a:xfrm>
          <a:prstGeom prst="rect">
            <a:avLst/>
          </a:prstGeom>
        </p:spPr>
      </p:pic>
      <p:sp>
        <p:nvSpPr>
          <p:cNvPr id="9" name="shot-caption-317"/>
          <p:cNvSpPr txBox="1"/>
          <p:nvPr/>
        </p:nvSpPr>
        <p:spPr>
          <a:xfrm>
            <a:off x="6507328" y="5212080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Course catalog with category filter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TESTING AND RESULTS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713232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Output screenshots | 3</a:t>
            </a:r>
            <a:endParaRPr lang="en-US" sz="3200" dirty="0"/>
          </a:p>
        </p:txBody>
      </p:sp>
      <p:sp>
        <p:nvSpPr>
          <p:cNvPr id="4" name="card-318"/>
          <p:cNvSpPr/>
          <p:nvPr/>
        </p:nvSpPr>
        <p:spPr>
          <a:xfrm>
            <a:off x="640080" y="1920240"/>
            <a:ext cx="5318608" cy="3931920"/>
          </a:xfrm>
          <a:prstGeom prst="roundRect">
            <a:avLst>
              <a:gd name="adj" fmla="val 186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4E1530">
                <a:alpha val="12000"/>
              </a:srgbClr>
            </a:outerShdw>
          </a:effectLst>
        </p:spPr>
      </p:sp>
      <p:pic>
        <p:nvPicPr>
          <p:cNvPr id="5" name="shot-319" descr="Project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425033"/>
            <a:ext cx="4952848" cy="2373695"/>
          </a:xfrm>
          <a:prstGeom prst="rect">
            <a:avLst/>
          </a:prstGeom>
        </p:spPr>
      </p:pic>
      <p:sp>
        <p:nvSpPr>
          <p:cNvPr id="6" name="shot-caption-320"/>
          <p:cNvSpPr txBox="1"/>
          <p:nvPr/>
        </p:nvSpPr>
        <p:spPr>
          <a:xfrm>
            <a:off x="914400" y="5212080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Enrollment form</a:t>
            </a:r>
            <a:endParaRPr lang="en-US" sz="1600" dirty="0"/>
          </a:p>
        </p:txBody>
      </p:sp>
      <p:sp>
        <p:nvSpPr>
          <p:cNvPr id="7" name="card-321"/>
          <p:cNvSpPr/>
          <p:nvPr/>
        </p:nvSpPr>
        <p:spPr>
          <a:xfrm>
            <a:off x="6233008" y="1920240"/>
            <a:ext cx="5318608" cy="3931920"/>
          </a:xfrm>
          <a:prstGeom prst="roundRect">
            <a:avLst>
              <a:gd name="adj" fmla="val 186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4E1530">
                <a:alpha val="12000"/>
              </a:srgbClr>
            </a:outerShdw>
          </a:effectLst>
        </p:spPr>
      </p:sp>
      <p:pic>
        <p:nvPicPr>
          <p:cNvPr id="8" name="shot-322" descr="Project screensho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5888" y="2439182"/>
            <a:ext cx="4952848" cy="2345396"/>
          </a:xfrm>
          <a:prstGeom prst="rect">
            <a:avLst/>
          </a:prstGeom>
        </p:spPr>
      </p:pic>
      <p:sp>
        <p:nvSpPr>
          <p:cNvPr id="9" name="shot-caption-323"/>
          <p:cNvSpPr txBox="1"/>
          <p:nvPr/>
        </p:nvSpPr>
        <p:spPr>
          <a:xfrm>
            <a:off x="6507328" y="5212080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Enrollment submitted successfully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REVIEW AND CONCLUSION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713232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Observations | Areas to improve</a:t>
            </a:r>
            <a:endParaRPr lang="en-US" sz="3200" dirty="0"/>
          </a:p>
        </p:txBody>
      </p:sp>
      <p:sp>
        <p:nvSpPr>
          <p:cNvPr id="4" name="card-324"/>
          <p:cNvSpPr/>
          <p:nvPr/>
        </p:nvSpPr>
        <p:spPr>
          <a:xfrm>
            <a:off x="640080" y="1691640"/>
            <a:ext cx="5318608" cy="2080260"/>
          </a:xfrm>
          <a:prstGeom prst="roundRect">
            <a:avLst>
              <a:gd name="adj" fmla="val 351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4E1530">
                <a:alpha val="12000"/>
              </a:srgbClr>
            </a:outerShdw>
          </a:effectLst>
        </p:spPr>
      </p:sp>
      <p:sp>
        <p:nvSpPr>
          <p:cNvPr id="5" name="iconbg-325"/>
          <p:cNvSpPr/>
          <p:nvPr/>
        </p:nvSpPr>
        <p:spPr>
          <a:xfrm>
            <a:off x="914400" y="19659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con-326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130" y="2091690"/>
            <a:ext cx="251460" cy="251460"/>
          </a:xfrm>
          <a:prstGeom prst="rect">
            <a:avLst/>
          </a:prstGeom>
        </p:spPr>
      </p:pic>
      <p:sp>
        <p:nvSpPr>
          <p:cNvPr id="7" name="ctitle-327"/>
          <p:cNvSpPr txBox="1"/>
          <p:nvPr/>
        </p:nvSpPr>
        <p:spPr>
          <a:xfrm>
            <a:off x="1600200" y="1965960"/>
            <a:ext cx="4084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Duplicate sample courses</a:t>
            </a:r>
            <a:endParaRPr lang="en-US" sz="1800" dirty="0"/>
          </a:p>
        </p:txBody>
      </p:sp>
      <p:sp>
        <p:nvSpPr>
          <p:cNvPr id="8" name="cbody-328"/>
          <p:cNvSpPr txBox="1"/>
          <p:nvPr/>
        </p:nvSpPr>
        <p:spPr>
          <a:xfrm>
            <a:off x="914400" y="2651760"/>
            <a:ext cx="4769968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Each course appeared twice because sample data was loaded by both the SQL script and the setup code.</a:t>
            </a:r>
            <a:endParaRPr lang="en-US" sz="1600" dirty="0"/>
          </a:p>
        </p:txBody>
      </p:sp>
      <p:sp>
        <p:nvSpPr>
          <p:cNvPr id="9" name="card-329"/>
          <p:cNvSpPr/>
          <p:nvPr/>
        </p:nvSpPr>
        <p:spPr>
          <a:xfrm>
            <a:off x="6233008" y="1691640"/>
            <a:ext cx="5318608" cy="2080260"/>
          </a:xfrm>
          <a:prstGeom prst="roundRect">
            <a:avLst>
              <a:gd name="adj" fmla="val 351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4E1530">
                <a:alpha val="12000"/>
              </a:srgbClr>
            </a:outerShdw>
          </a:effectLst>
        </p:spPr>
      </p:sp>
      <p:sp>
        <p:nvSpPr>
          <p:cNvPr id="10" name="iconbg-330"/>
          <p:cNvSpPr/>
          <p:nvPr/>
        </p:nvSpPr>
        <p:spPr>
          <a:xfrm>
            <a:off x="6507328" y="19659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-331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3058" y="2091690"/>
            <a:ext cx="251460" cy="251460"/>
          </a:xfrm>
          <a:prstGeom prst="rect">
            <a:avLst/>
          </a:prstGeom>
        </p:spPr>
      </p:pic>
      <p:sp>
        <p:nvSpPr>
          <p:cNvPr id="12" name="ctitle-332"/>
          <p:cNvSpPr txBox="1"/>
          <p:nvPr/>
        </p:nvSpPr>
        <p:spPr>
          <a:xfrm>
            <a:off x="7193128" y="1965960"/>
            <a:ext cx="4084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Login is validation only</a:t>
            </a:r>
            <a:endParaRPr lang="en-US" sz="1800" dirty="0"/>
          </a:p>
        </p:txBody>
      </p:sp>
      <p:sp>
        <p:nvSpPr>
          <p:cNvPr id="13" name="cbody-333"/>
          <p:cNvSpPr txBox="1"/>
          <p:nvPr/>
        </p:nvSpPr>
        <p:spPr>
          <a:xfrm>
            <a:off x="6507328" y="2651760"/>
            <a:ext cx="4769968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Credentials are not checked against stored accounts yet.</a:t>
            </a:r>
            <a:endParaRPr lang="en-US" sz="1600" dirty="0"/>
          </a:p>
        </p:txBody>
      </p:sp>
      <p:sp>
        <p:nvSpPr>
          <p:cNvPr id="14" name="card-334"/>
          <p:cNvSpPr/>
          <p:nvPr/>
        </p:nvSpPr>
        <p:spPr>
          <a:xfrm>
            <a:off x="640080" y="4046220"/>
            <a:ext cx="5318608" cy="2080260"/>
          </a:xfrm>
          <a:prstGeom prst="roundRect">
            <a:avLst>
              <a:gd name="adj" fmla="val 351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4E1530">
                <a:alpha val="12000"/>
              </a:srgbClr>
            </a:outerShdw>
          </a:effectLst>
        </p:spPr>
      </p:sp>
      <p:sp>
        <p:nvSpPr>
          <p:cNvPr id="15" name="iconbg-335"/>
          <p:cNvSpPr/>
          <p:nvPr/>
        </p:nvSpPr>
        <p:spPr>
          <a:xfrm>
            <a:off x="914400" y="43205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con-336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130" y="4446270"/>
            <a:ext cx="251460" cy="251460"/>
          </a:xfrm>
          <a:prstGeom prst="rect">
            <a:avLst/>
          </a:prstGeom>
        </p:spPr>
      </p:pic>
      <p:sp>
        <p:nvSpPr>
          <p:cNvPr id="17" name="ctitle-337"/>
          <p:cNvSpPr txBox="1"/>
          <p:nvPr/>
        </p:nvSpPr>
        <p:spPr>
          <a:xfrm>
            <a:off x="1600200" y="4320540"/>
            <a:ext cx="4084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Seats and dropdowns</a:t>
            </a:r>
            <a:endParaRPr lang="en-US" sz="1800" dirty="0"/>
          </a:p>
        </p:txBody>
      </p:sp>
      <p:sp>
        <p:nvSpPr>
          <p:cNvPr id="18" name="cbody-338"/>
          <p:cNvSpPr txBox="1"/>
          <p:nvPr/>
        </p:nvSpPr>
        <p:spPr>
          <a:xfrm>
            <a:off x="914400" y="5006340"/>
            <a:ext cx="4769968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Seat count is not reduced after enrollment; any course can be picked with any category.</a:t>
            </a:r>
            <a:endParaRPr lang="en-US" sz="1600" dirty="0"/>
          </a:p>
        </p:txBody>
      </p:sp>
      <p:sp>
        <p:nvSpPr>
          <p:cNvPr id="19" name="card-339"/>
          <p:cNvSpPr/>
          <p:nvPr/>
        </p:nvSpPr>
        <p:spPr>
          <a:xfrm>
            <a:off x="6233008" y="4046220"/>
            <a:ext cx="5318608" cy="2080260"/>
          </a:xfrm>
          <a:prstGeom prst="roundRect">
            <a:avLst>
              <a:gd name="adj" fmla="val 351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4E1530">
                <a:alpha val="12000"/>
              </a:srgbClr>
            </a:outerShdw>
          </a:effectLst>
        </p:spPr>
      </p:sp>
      <p:sp>
        <p:nvSpPr>
          <p:cNvPr id="20" name="iconbg-340"/>
          <p:cNvSpPr/>
          <p:nvPr/>
        </p:nvSpPr>
        <p:spPr>
          <a:xfrm>
            <a:off x="6507328" y="43205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icon-341" descr="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3058" y="4446270"/>
            <a:ext cx="251460" cy="251460"/>
          </a:xfrm>
          <a:prstGeom prst="rect">
            <a:avLst/>
          </a:prstGeom>
        </p:spPr>
      </p:pic>
      <p:sp>
        <p:nvSpPr>
          <p:cNvPr id="22" name="ctitle-342"/>
          <p:cNvSpPr txBox="1"/>
          <p:nvPr/>
        </p:nvSpPr>
        <p:spPr>
          <a:xfrm>
            <a:off x="7193128" y="4320540"/>
            <a:ext cx="4084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Credentials in code</a:t>
            </a:r>
            <a:endParaRPr lang="en-US" sz="1800" dirty="0"/>
          </a:p>
        </p:txBody>
      </p:sp>
      <p:sp>
        <p:nvSpPr>
          <p:cNvPr id="23" name="cbody-343"/>
          <p:cNvSpPr txBox="1"/>
          <p:nvPr/>
        </p:nvSpPr>
        <p:spPr>
          <a:xfrm>
            <a:off x="6507328" y="5006340"/>
            <a:ext cx="4769968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Database user and password sit in the source file and should move to environment variables.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REVIEW AND CONCLUSION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713232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Future work</a:t>
            </a:r>
            <a:endParaRPr lang="en-US" sz="3200" dirty="0"/>
          </a:p>
        </p:txBody>
      </p:sp>
      <p:sp>
        <p:nvSpPr>
          <p:cNvPr id="4" name="card-344"/>
          <p:cNvSpPr/>
          <p:nvPr/>
        </p:nvSpPr>
        <p:spPr>
          <a:xfrm>
            <a:off x="640080" y="1691640"/>
            <a:ext cx="3454298" cy="2080260"/>
          </a:xfrm>
          <a:prstGeom prst="roundRect">
            <a:avLst>
              <a:gd name="adj" fmla="val 351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4E1530">
                <a:alpha val="12000"/>
              </a:srgbClr>
            </a:outerShdw>
          </a:effectLst>
        </p:spPr>
      </p:sp>
      <p:sp>
        <p:nvSpPr>
          <p:cNvPr id="5" name="iconbg-345"/>
          <p:cNvSpPr/>
          <p:nvPr/>
        </p:nvSpPr>
        <p:spPr>
          <a:xfrm>
            <a:off x="914400" y="19659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con-346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130" y="2091690"/>
            <a:ext cx="251460" cy="251460"/>
          </a:xfrm>
          <a:prstGeom prst="rect">
            <a:avLst/>
          </a:prstGeom>
        </p:spPr>
      </p:pic>
      <p:sp>
        <p:nvSpPr>
          <p:cNvPr id="7" name="cbody-347"/>
          <p:cNvSpPr txBox="1"/>
          <p:nvPr/>
        </p:nvSpPr>
        <p:spPr>
          <a:xfrm>
            <a:off x="914400" y="2651760"/>
            <a:ext cx="2905658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Secure login with password hashing, sessions or JWT, and role-based access.</a:t>
            </a:r>
            <a:endParaRPr lang="en-US" sz="1600" dirty="0"/>
          </a:p>
        </p:txBody>
      </p:sp>
      <p:sp>
        <p:nvSpPr>
          <p:cNvPr id="8" name="card-348"/>
          <p:cNvSpPr/>
          <p:nvPr/>
        </p:nvSpPr>
        <p:spPr>
          <a:xfrm>
            <a:off x="4368698" y="1691640"/>
            <a:ext cx="3454298" cy="2080260"/>
          </a:xfrm>
          <a:prstGeom prst="roundRect">
            <a:avLst>
              <a:gd name="adj" fmla="val 351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4E1530">
                <a:alpha val="12000"/>
              </a:srgbClr>
            </a:outerShdw>
          </a:effectLst>
        </p:spPr>
      </p:sp>
      <p:sp>
        <p:nvSpPr>
          <p:cNvPr id="9" name="iconbg-349"/>
          <p:cNvSpPr/>
          <p:nvPr/>
        </p:nvSpPr>
        <p:spPr>
          <a:xfrm>
            <a:off x="4643018" y="19659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con-350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8748" y="2091690"/>
            <a:ext cx="251460" cy="251460"/>
          </a:xfrm>
          <a:prstGeom prst="rect">
            <a:avLst/>
          </a:prstGeom>
        </p:spPr>
      </p:pic>
      <p:sp>
        <p:nvSpPr>
          <p:cNvPr id="11" name="cbody-351"/>
          <p:cNvSpPr txBox="1"/>
          <p:nvPr/>
        </p:nvSpPr>
        <p:spPr>
          <a:xfrm>
            <a:off x="4643018" y="2651760"/>
            <a:ext cx="2905658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Administrator panel to manage courses and approve or reject enrollments.</a:t>
            </a:r>
            <a:endParaRPr lang="en-US" sz="1600" dirty="0"/>
          </a:p>
        </p:txBody>
      </p:sp>
      <p:sp>
        <p:nvSpPr>
          <p:cNvPr id="12" name="card-352"/>
          <p:cNvSpPr/>
          <p:nvPr/>
        </p:nvSpPr>
        <p:spPr>
          <a:xfrm>
            <a:off x="8097317" y="1691640"/>
            <a:ext cx="3454298" cy="2080260"/>
          </a:xfrm>
          <a:prstGeom prst="roundRect">
            <a:avLst>
              <a:gd name="adj" fmla="val 351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4E1530">
                <a:alpha val="12000"/>
              </a:srgbClr>
            </a:outerShdw>
          </a:effectLst>
        </p:spPr>
      </p:sp>
      <p:sp>
        <p:nvSpPr>
          <p:cNvPr id="13" name="iconbg-353"/>
          <p:cNvSpPr/>
          <p:nvPr/>
        </p:nvSpPr>
        <p:spPr>
          <a:xfrm>
            <a:off x="8371637" y="19659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icon-354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7367" y="2091690"/>
            <a:ext cx="251460" cy="251460"/>
          </a:xfrm>
          <a:prstGeom prst="rect">
            <a:avLst/>
          </a:prstGeom>
        </p:spPr>
      </p:pic>
      <p:sp>
        <p:nvSpPr>
          <p:cNvPr id="15" name="cbody-355"/>
          <p:cNvSpPr txBox="1"/>
          <p:nvPr/>
        </p:nvSpPr>
        <p:spPr>
          <a:xfrm>
            <a:off x="8371637" y="2651760"/>
            <a:ext cx="2905658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Seat management with a waiting list; duplicate enrollment prevention.</a:t>
            </a:r>
            <a:endParaRPr lang="en-US" sz="1600" dirty="0"/>
          </a:p>
        </p:txBody>
      </p:sp>
      <p:sp>
        <p:nvSpPr>
          <p:cNvPr id="16" name="card-356"/>
          <p:cNvSpPr/>
          <p:nvPr/>
        </p:nvSpPr>
        <p:spPr>
          <a:xfrm>
            <a:off x="640080" y="4046220"/>
            <a:ext cx="5318608" cy="2080260"/>
          </a:xfrm>
          <a:prstGeom prst="roundRect">
            <a:avLst>
              <a:gd name="adj" fmla="val 351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4E1530">
                <a:alpha val="12000"/>
              </a:srgbClr>
            </a:outerShdw>
          </a:effectLst>
        </p:spPr>
      </p:sp>
      <p:sp>
        <p:nvSpPr>
          <p:cNvPr id="17" name="iconbg-357"/>
          <p:cNvSpPr/>
          <p:nvPr/>
        </p:nvSpPr>
        <p:spPr>
          <a:xfrm>
            <a:off x="914400" y="43205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icon-358" descr="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130" y="4446270"/>
            <a:ext cx="251460" cy="251460"/>
          </a:xfrm>
          <a:prstGeom prst="rect">
            <a:avLst/>
          </a:prstGeom>
        </p:spPr>
      </p:pic>
      <p:sp>
        <p:nvSpPr>
          <p:cNvPr id="19" name="cbody-359"/>
          <p:cNvSpPr txBox="1"/>
          <p:nvPr/>
        </p:nvSpPr>
        <p:spPr>
          <a:xfrm>
            <a:off x="914400" y="5006340"/>
            <a:ext cx="4769968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Email and SMS notifications; payment gateway integration.</a:t>
            </a:r>
            <a:endParaRPr lang="en-US" sz="1600" dirty="0"/>
          </a:p>
        </p:txBody>
      </p:sp>
      <p:sp>
        <p:nvSpPr>
          <p:cNvPr id="20" name="card-360"/>
          <p:cNvSpPr/>
          <p:nvPr/>
        </p:nvSpPr>
        <p:spPr>
          <a:xfrm>
            <a:off x="6233008" y="4046220"/>
            <a:ext cx="5318608" cy="2080260"/>
          </a:xfrm>
          <a:prstGeom prst="roundRect">
            <a:avLst>
              <a:gd name="adj" fmla="val 351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4E1530">
                <a:alpha val="12000"/>
              </a:srgbClr>
            </a:outerShdw>
          </a:effectLst>
        </p:spPr>
      </p:sp>
      <p:sp>
        <p:nvSpPr>
          <p:cNvPr id="21" name="iconbg-361"/>
          <p:cNvSpPr/>
          <p:nvPr/>
        </p:nvSpPr>
        <p:spPr>
          <a:xfrm>
            <a:off x="6507328" y="43205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2" name="icon-362" descr="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3058" y="4446270"/>
            <a:ext cx="251460" cy="251460"/>
          </a:xfrm>
          <a:prstGeom prst="rect">
            <a:avLst/>
          </a:prstGeom>
        </p:spPr>
      </p:pic>
      <p:sp>
        <p:nvSpPr>
          <p:cNvPr id="23" name="cbody-363"/>
          <p:cNvSpPr txBox="1"/>
          <p:nvPr/>
        </p:nvSpPr>
        <p:spPr>
          <a:xfrm>
            <a:off x="6507328" y="5006340"/>
            <a:ext cx="4769968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Search, pagination, analytics reports, automated tests and Docker/cloud deployment.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REVIEW AND CONCLUSION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713232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Conclusion and key learning</a:t>
            </a:r>
            <a:endParaRPr lang="en-US" sz="3200" dirty="0"/>
          </a:p>
        </p:txBody>
      </p:sp>
      <p:sp>
        <p:nvSpPr>
          <p:cNvPr id="4" name="point-card-364"/>
          <p:cNvSpPr/>
          <p:nvPr/>
        </p:nvSpPr>
        <p:spPr>
          <a:xfrm>
            <a:off x="640080" y="1691640"/>
            <a:ext cx="7315200" cy="971550"/>
          </a:xfrm>
          <a:prstGeom prst="roundRect">
            <a:avLst>
              <a:gd name="adj" fmla="val 7529"/>
            </a:avLst>
          </a:prstGeom>
          <a:solidFill>
            <a:schemeClr val="accent1"/>
          </a:solidFill>
          <a:ln/>
        </p:spPr>
      </p:sp>
      <p:sp>
        <p:nvSpPr>
          <p:cNvPr id="5" name="iconbg-365"/>
          <p:cNvSpPr/>
          <p:nvPr/>
        </p:nvSpPr>
        <p:spPr>
          <a:xfrm>
            <a:off x="914400" y="1925955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6" name="icon-366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130" y="2051685"/>
            <a:ext cx="251460" cy="251460"/>
          </a:xfrm>
          <a:prstGeom prst="rect">
            <a:avLst/>
          </a:prstGeom>
        </p:spPr>
      </p:pic>
      <p:sp>
        <p:nvSpPr>
          <p:cNvPr id="7" name="point-367"/>
          <p:cNvSpPr txBox="1"/>
          <p:nvPr/>
        </p:nvSpPr>
        <p:spPr>
          <a:xfrm>
            <a:off x="1645920" y="1691640"/>
            <a:ext cx="6035040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Replaced manual, paper-based enrollment with a centralized digital platform.</a:t>
            </a:r>
            <a:endParaRPr lang="en-US" sz="1600" dirty="0"/>
          </a:p>
        </p:txBody>
      </p:sp>
      <p:sp>
        <p:nvSpPr>
          <p:cNvPr id="8" name="point-card-368"/>
          <p:cNvSpPr/>
          <p:nvPr/>
        </p:nvSpPr>
        <p:spPr>
          <a:xfrm>
            <a:off x="640080" y="2846070"/>
            <a:ext cx="7315200" cy="971550"/>
          </a:xfrm>
          <a:prstGeom prst="roundRect">
            <a:avLst>
              <a:gd name="adj" fmla="val 7529"/>
            </a:avLst>
          </a:prstGeom>
          <a:solidFill>
            <a:schemeClr val="accent1"/>
          </a:solidFill>
          <a:ln/>
        </p:spPr>
      </p:sp>
      <p:sp>
        <p:nvSpPr>
          <p:cNvPr id="9" name="iconbg-369"/>
          <p:cNvSpPr/>
          <p:nvPr/>
        </p:nvSpPr>
        <p:spPr>
          <a:xfrm>
            <a:off x="914400" y="3080385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icon-370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130" y="3206115"/>
            <a:ext cx="251460" cy="251460"/>
          </a:xfrm>
          <a:prstGeom prst="rect">
            <a:avLst/>
          </a:prstGeom>
        </p:spPr>
      </p:pic>
      <p:sp>
        <p:nvSpPr>
          <p:cNvPr id="11" name="point-371"/>
          <p:cNvSpPr txBox="1"/>
          <p:nvPr/>
        </p:nvSpPr>
        <p:spPr>
          <a:xfrm>
            <a:off x="1645920" y="2846070"/>
            <a:ext cx="6035040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Delivered category browsing, a filtered course catalog, online enrollment, login and a dashboard.</a:t>
            </a:r>
            <a:endParaRPr lang="en-US" sz="1600" dirty="0"/>
          </a:p>
        </p:txBody>
      </p:sp>
      <p:sp>
        <p:nvSpPr>
          <p:cNvPr id="12" name="point-card-372"/>
          <p:cNvSpPr/>
          <p:nvPr/>
        </p:nvSpPr>
        <p:spPr>
          <a:xfrm>
            <a:off x="640080" y="4000500"/>
            <a:ext cx="7315200" cy="971550"/>
          </a:xfrm>
          <a:prstGeom prst="roundRect">
            <a:avLst>
              <a:gd name="adj" fmla="val 7529"/>
            </a:avLst>
          </a:prstGeom>
          <a:solidFill>
            <a:schemeClr val="accent1"/>
          </a:solidFill>
          <a:ln/>
        </p:spPr>
      </p:sp>
      <p:sp>
        <p:nvSpPr>
          <p:cNvPr id="13" name="iconbg-373"/>
          <p:cNvSpPr/>
          <p:nvPr/>
        </p:nvSpPr>
        <p:spPr>
          <a:xfrm>
            <a:off x="914400" y="4234815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4" name="icon-374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130" y="4360545"/>
            <a:ext cx="251460" cy="251460"/>
          </a:xfrm>
          <a:prstGeom prst="rect">
            <a:avLst/>
          </a:prstGeom>
        </p:spPr>
      </p:pic>
      <p:sp>
        <p:nvSpPr>
          <p:cNvPr id="15" name="point-375"/>
          <p:cNvSpPr txBox="1"/>
          <p:nvPr/>
        </p:nvSpPr>
        <p:spPr>
          <a:xfrm>
            <a:off x="1645920" y="4000500"/>
            <a:ext cx="6035040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Gained practical skills in FastAPI, SQL and MySQL, form handling and responsive UI design.</a:t>
            </a:r>
            <a:endParaRPr lang="en-US" sz="1600" dirty="0"/>
          </a:p>
        </p:txBody>
      </p:sp>
      <p:sp>
        <p:nvSpPr>
          <p:cNvPr id="16" name="point-card-376"/>
          <p:cNvSpPr/>
          <p:nvPr/>
        </p:nvSpPr>
        <p:spPr>
          <a:xfrm>
            <a:off x="640080" y="5154930"/>
            <a:ext cx="7315200" cy="971550"/>
          </a:xfrm>
          <a:prstGeom prst="roundRect">
            <a:avLst>
              <a:gd name="adj" fmla="val 7529"/>
            </a:avLst>
          </a:prstGeom>
          <a:solidFill>
            <a:schemeClr val="accent1"/>
          </a:solidFill>
          <a:ln/>
        </p:spPr>
      </p:sp>
      <p:sp>
        <p:nvSpPr>
          <p:cNvPr id="17" name="iconbg-377"/>
          <p:cNvSpPr/>
          <p:nvPr/>
        </p:nvSpPr>
        <p:spPr>
          <a:xfrm>
            <a:off x="914400" y="5389245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8" name="icon-378" descr="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130" y="5514975"/>
            <a:ext cx="251460" cy="251460"/>
          </a:xfrm>
          <a:prstGeom prst="rect">
            <a:avLst/>
          </a:prstGeom>
        </p:spPr>
      </p:pic>
      <p:sp>
        <p:nvSpPr>
          <p:cNvPr id="19" name="point-379"/>
          <p:cNvSpPr txBox="1"/>
          <p:nvPr/>
        </p:nvSpPr>
        <p:spPr>
          <a:xfrm>
            <a:off x="1645920" y="5154930"/>
            <a:ext cx="6035040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Understood the full software development life cycle in an industry setting.</a:t>
            </a:r>
            <a:endParaRPr lang="en-US" sz="1600" dirty="0"/>
          </a:p>
        </p:txBody>
      </p:sp>
      <p:sp>
        <p:nvSpPr>
          <p:cNvPr id="20" name="thanks-panel"/>
          <p:cNvSpPr/>
          <p:nvPr/>
        </p:nvSpPr>
        <p:spPr>
          <a:xfrm>
            <a:off x="8275320" y="1691640"/>
            <a:ext cx="3276295" cy="4434840"/>
          </a:xfrm>
          <a:prstGeom prst="roundRect">
            <a:avLst>
              <a:gd name="adj" fmla="val 2233"/>
            </a:avLst>
          </a:prstGeom>
          <a:solidFill>
            <a:schemeClr val="accent2"/>
          </a:solidFill>
          <a:ln/>
        </p:spPr>
      </p:sp>
      <p:pic>
        <p:nvPicPr>
          <p:cNvPr id="21" name="thanks-icon" descr="Graduation cap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64828" y="2697480"/>
            <a:ext cx="1097280" cy="1097280"/>
          </a:xfrm>
          <a:prstGeom prst="rect">
            <a:avLst/>
          </a:prstGeom>
        </p:spPr>
      </p:pic>
      <p:sp>
        <p:nvSpPr>
          <p:cNvPr id="22" name="thanks"/>
          <p:cNvSpPr txBox="1"/>
          <p:nvPr/>
        </p:nvSpPr>
        <p:spPr>
          <a:xfrm>
            <a:off x="8458200" y="4160520"/>
            <a:ext cx="2910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Thank you</a:t>
            </a: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6F1F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roon Gold Academic">
  <a:themeElements>
    <a:clrScheme name="Maroon Gold Academic">
      <a:dk1>
        <a:srgbClr val="2B1A22"/>
      </a:dk1>
      <a:lt1>
        <a:srgbClr val="FFFFFF"/>
      </a:lt1>
      <a:dk2>
        <a:srgbClr val="4E1530"/>
      </a:dk2>
      <a:lt2>
        <a:srgbClr val="F6F1F4"/>
      </a:lt2>
      <a:accent1>
        <a:srgbClr val="8B2347"/>
      </a:accent1>
      <a:accent2>
        <a:srgbClr val="C99A2E"/>
      </a:accent2>
      <a:accent3>
        <a:srgbClr val="3E5C76"/>
      </a:accent3>
      <a:accent4>
        <a:srgbClr val="B5536B"/>
      </a:accent4>
      <a:accent5>
        <a:srgbClr val="5A6678"/>
      </a:accent5>
      <a:accent6>
        <a:srgbClr val="2F6F62"/>
      </a:accent6>
      <a:hlink>
        <a:srgbClr val="8B2347"/>
      </a:hlink>
      <a:folHlink>
        <a:srgbClr val="5A6678"/>
      </a:folHlink>
    </a:clrScheme>
    <a:fontScheme name="Maroon Gold Academic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Course Enrollment System - Internship Review</dc:title>
  <dc:subject>PptxGenJS Presentation</dc:subject>
  <dc:creator>Lakshana M</dc:creator>
  <cp:lastModifiedBy>Lakshana M</cp:lastModifiedBy>
  <cp:revision>1</cp:revision>
  <dcterms:created xsi:type="dcterms:W3CDTF">2026-10-20T14:21:24Z</dcterms:created>
  <dcterms:modified xsi:type="dcterms:W3CDTF">2026-10-20T14:21:24Z</dcterms:modified>
</cp:coreProperties>
</file>